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427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" y="0"/>
            <a:ext cx="12200069" cy="304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27382" y="4293096"/>
            <a:ext cx="11137237" cy="8503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8069" y="1"/>
            <a:ext cx="12200069" cy="304684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36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5875" y="973852"/>
            <a:ext cx="12192000" cy="3024336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33301" y="5628704"/>
            <a:ext cx="11041227" cy="72008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ko-KR" altLang="en-US" sz="140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40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40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-234125"/>
            <a:ext cx="1632181" cy="120797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797" y="5517233"/>
            <a:ext cx="864096" cy="6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9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476211" y="4357694"/>
            <a:ext cx="10763325" cy="71438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3CDE7C1-A801-47F7-A2E5-4A3AB724CB1B}" type="datetimeFigureOut">
              <a:rPr lang="ko-KR" altLang="en-US" smtClean="0"/>
              <a:t>2024-09-05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972D-193B-4DE1-9753-A877741B1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56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71414"/>
            <a:ext cx="10972800" cy="582594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429397"/>
            <a:ext cx="3860800" cy="29207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429397"/>
            <a:ext cx="2844800" cy="292079"/>
          </a:xfrm>
        </p:spPr>
        <p:txBody>
          <a:bodyPr/>
          <a:lstStyle/>
          <a:p>
            <a:fld id="{6B30972D-193B-4DE1-9753-A877741B194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928670"/>
            <a:ext cx="10972800" cy="55007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623392" y="620688"/>
            <a:ext cx="10945216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91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1"/>
            <a:ext cx="12192000" cy="27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2396"/>
            <a:ext cx="12192000" cy="2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620688"/>
            <a:ext cx="10972800" cy="5594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0972D-193B-4DE1-9753-A877741B194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145472"/>
            <a:ext cx="10972800" cy="403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566" y="-146851"/>
            <a:ext cx="984085" cy="7283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683" y="6120214"/>
            <a:ext cx="984085" cy="7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9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AB2302D-270C-EA9B-AE4B-0C0651B4E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인공지능 </a:t>
            </a:r>
            <a:r>
              <a:rPr lang="ko-KR" altLang="en-US" dirty="0" err="1"/>
              <a:t>머신러닝의</a:t>
            </a:r>
            <a:r>
              <a:rPr lang="ko-KR" altLang="en-US" dirty="0"/>
              <a:t> 이해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C1C077-4F97-BAE0-258C-77FEA3585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인공지능 솔루션</a:t>
            </a:r>
          </a:p>
        </p:txBody>
      </p:sp>
    </p:spTree>
    <p:extLst>
      <p:ext uri="{BB962C8B-B14F-4D97-AF65-F5344CB8AC3E}">
        <p14:creationId xmlns:p14="http://schemas.microsoft.com/office/powerpoint/2010/main" val="158460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DF559-7D30-F628-2AF3-885668DF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3E8229-CB11-F477-AFF7-6F74E1167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이해</a:t>
            </a:r>
            <a:r>
              <a:rPr lang="en-US" altLang="ko-KR" dirty="0"/>
              <a:t>, </a:t>
            </a:r>
            <a:r>
              <a:rPr lang="ko-KR" altLang="en-US" dirty="0"/>
              <a:t>오렌지를 이용한 </a:t>
            </a:r>
            <a:r>
              <a:rPr lang="ko-KR" altLang="en-US" dirty="0" err="1"/>
              <a:t>머신러닝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9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78095-9F2A-9E40-EF1D-76E8BD2D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이해 </a:t>
            </a:r>
            <a:r>
              <a:rPr lang="en-US" altLang="ko-KR" dirty="0"/>
              <a:t>- </a:t>
            </a:r>
            <a:r>
              <a:rPr lang="ko-KR" altLang="en-US" dirty="0" err="1"/>
              <a:t>머신러닝</a:t>
            </a:r>
            <a:r>
              <a:rPr lang="ko-KR" altLang="en-US" dirty="0"/>
              <a:t> 기반 데이터 분석 계획 및 절차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BEAF99-1E2C-A908-4547-4E992C84B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비즈니스 이해 및 문제 정의</a:t>
            </a:r>
          </a:p>
          <a:p>
            <a:pPr lvl="1"/>
            <a:r>
              <a:rPr lang="ko-KR" altLang="en-US" dirty="0"/>
              <a:t>모든 분석 주제가 그렇듯</a:t>
            </a:r>
            <a:r>
              <a:rPr lang="en-US" altLang="ko-KR" dirty="0"/>
              <a:t>,  </a:t>
            </a:r>
            <a:r>
              <a:rPr lang="ko-KR" altLang="en-US" dirty="0" err="1"/>
              <a:t>머신러닝</a:t>
            </a:r>
            <a:r>
              <a:rPr lang="ko-KR" altLang="en-US" dirty="0"/>
              <a:t> 기반 데이터 분석에서도 마찬가지로 해결하려는 문제 를 정의하는 것이 가장 우선이다</a:t>
            </a:r>
            <a:r>
              <a:rPr lang="en-US" altLang="ko-KR" dirty="0"/>
              <a:t>. </a:t>
            </a:r>
            <a:r>
              <a:rPr lang="ko-KR" altLang="en-US" dirty="0"/>
              <a:t>자신이 해결하려는 문제를 이해하고</a:t>
            </a:r>
            <a:r>
              <a:rPr lang="en-US" altLang="ko-KR" dirty="0"/>
              <a:t>,  </a:t>
            </a:r>
            <a:r>
              <a:rPr lang="ko-KR" altLang="en-US" dirty="0"/>
              <a:t>그 문제를 해결하기 위한 비즈니스 도메인 이해 및 문제를 파악해가는 과정을 반복해 가면서 문제를 재정의하고 해결책을 모색하는 단계를 반복적으로 거치면서 구체적인 목적과 필요한 데이터에 대한 이해가 명확해지게 된다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 </a:t>
            </a:r>
            <a:r>
              <a:rPr lang="ko-KR" altLang="en-US" dirty="0"/>
              <a:t>문제정의 과정과 필요한 데이터 형태에 대해 구상을 하는 과정에서 자연스럽게 어떤 </a:t>
            </a:r>
            <a:r>
              <a:rPr lang="ko-KR" altLang="en-US" dirty="0" err="1"/>
              <a:t>머신러닝</a:t>
            </a:r>
            <a:r>
              <a:rPr lang="ko-KR" altLang="en-US" dirty="0"/>
              <a:t> 기법을 적용하게 될지 </a:t>
            </a:r>
            <a:r>
              <a:rPr lang="en-US" altLang="ko-KR" dirty="0"/>
              <a:t>1</a:t>
            </a:r>
            <a:r>
              <a:rPr lang="ko-KR" altLang="en-US" dirty="0"/>
              <a:t>차적인 잠정적 의사결정 과정을 거치게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데이터 수집</a:t>
            </a:r>
          </a:p>
          <a:p>
            <a:pPr lvl="1"/>
            <a:r>
              <a:rPr lang="en-US" altLang="ko-KR" dirty="0"/>
              <a:t>• </a:t>
            </a:r>
            <a:r>
              <a:rPr lang="ko-KR" altLang="en-US" dirty="0"/>
              <a:t>해결하고자 하는 분석 이슈가 </a:t>
            </a:r>
            <a:r>
              <a:rPr lang="ko-KR" altLang="en-US" dirty="0" err="1"/>
              <a:t>명확해졌다면</a:t>
            </a:r>
            <a:r>
              <a:rPr lang="en-US" altLang="ko-KR" dirty="0"/>
              <a:t>,  </a:t>
            </a:r>
            <a:r>
              <a:rPr lang="ko-KR" altLang="en-US" dirty="0"/>
              <a:t>분석을 위해 필요한 데이터를 수집하게 된다</a:t>
            </a:r>
            <a:r>
              <a:rPr lang="en-US" altLang="ko-KR" dirty="0"/>
              <a:t>. </a:t>
            </a:r>
            <a:r>
              <a:rPr lang="ko-KR" altLang="en-US" dirty="0"/>
              <a:t>물론 분석하려는 데이터가 이미 주어져 있는 상태에서 해당 데이터에 적합한 분석이슈를 고민하게 되는 경우도 있지만</a:t>
            </a:r>
            <a:r>
              <a:rPr lang="en-US" altLang="ko-KR" dirty="0"/>
              <a:t>,  </a:t>
            </a:r>
            <a:r>
              <a:rPr lang="ko-KR" altLang="en-US" dirty="0"/>
              <a:t>그 경우에도 분석을 위해 추가로 필요한 데이터가 발생할 수 있으므로 필요한 데이터 수집은 올바른 분석을 위해 항상 고려해야 하는 요소이다</a:t>
            </a:r>
            <a:r>
              <a:rPr lang="en-US" altLang="ko-KR" dirty="0"/>
              <a:t>. </a:t>
            </a:r>
            <a:r>
              <a:rPr lang="ko-KR" altLang="en-US" dirty="0"/>
              <a:t>내 부 데이터 저장소</a:t>
            </a:r>
            <a:r>
              <a:rPr lang="en-US" altLang="ko-KR" dirty="0"/>
              <a:t>(</a:t>
            </a:r>
            <a:r>
              <a:rPr lang="ko-KR" altLang="en-US" dirty="0" err="1"/>
              <a:t>데이터웨어하우스</a:t>
            </a:r>
            <a:r>
              <a:rPr lang="ko-KR" altLang="en-US" dirty="0"/>
              <a:t> 혹은 데이터 마트 등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/>
              <a:t>SQL</a:t>
            </a:r>
            <a:r>
              <a:rPr lang="ko-KR" altLang="en-US" dirty="0"/>
              <a:t>을 통하여 데이터를 추 출하거나 </a:t>
            </a:r>
            <a:r>
              <a:rPr lang="ko-KR" altLang="en-US" dirty="0" err="1"/>
              <a:t>하둡</a:t>
            </a:r>
            <a:r>
              <a:rPr lang="ko-KR" altLang="en-US" dirty="0"/>
              <a:t> 기반의 빅데이터 플랫폼에서 데이터를 추출하는 경우가 일반적이라고 볼 수 있으나</a:t>
            </a:r>
            <a:r>
              <a:rPr lang="en-US" altLang="ko-KR" dirty="0"/>
              <a:t>,  </a:t>
            </a:r>
            <a:r>
              <a:rPr lang="ko-KR" altLang="en-US" dirty="0"/>
              <a:t>어떤 경우에는 외부 데이터가 필요할 수도 있으므로 웹 사이트에서 필요한 데이터를 </a:t>
            </a:r>
            <a:r>
              <a:rPr lang="ko-KR" altLang="en-US" dirty="0" err="1"/>
              <a:t>스크래핑</a:t>
            </a:r>
            <a:r>
              <a:rPr lang="ko-KR" altLang="en-US" dirty="0"/>
              <a:t> 형태로 수집하거나 </a:t>
            </a:r>
            <a:r>
              <a:rPr lang="en-US" altLang="ko-KR" dirty="0"/>
              <a:t>API </a:t>
            </a:r>
            <a:r>
              <a:rPr lang="ko-KR" altLang="en-US" dirty="0"/>
              <a:t>등을 통해 데이터를 수집해야 될 경우가 발생할 수도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6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51E8C-F497-353A-45B2-BC37AC86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이해 </a:t>
            </a:r>
            <a:r>
              <a:rPr lang="en-US" altLang="ko-KR" dirty="0"/>
              <a:t>- </a:t>
            </a:r>
            <a:r>
              <a:rPr lang="ko-KR" altLang="en-US" dirty="0" err="1"/>
              <a:t>머신러닝</a:t>
            </a:r>
            <a:r>
              <a:rPr lang="ko-KR" altLang="en-US" dirty="0"/>
              <a:t> 기반 데이터 분석 계획 및 절차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D0DC5-1522-6D09-B3EE-F25EC8F6F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데이터 전처리와 탐색</a:t>
            </a:r>
          </a:p>
          <a:p>
            <a:pPr lvl="1"/>
            <a:r>
              <a:rPr lang="ko-KR" altLang="en-US" dirty="0"/>
              <a:t>필요한 데이터를 수집되었다면</a:t>
            </a:r>
            <a:r>
              <a:rPr lang="en-US" altLang="ko-KR" dirty="0"/>
              <a:t>,  </a:t>
            </a:r>
            <a:r>
              <a:rPr lang="ko-KR" altLang="en-US" dirty="0" err="1"/>
              <a:t>머신러닝을</a:t>
            </a:r>
            <a:r>
              <a:rPr lang="ko-KR" altLang="en-US" dirty="0"/>
              <a:t> 적용하기에 적당한 형태로 데이터를 전처리하고 변환하게 된다</a:t>
            </a:r>
            <a:r>
              <a:rPr lang="en-US" altLang="ko-KR" dirty="0"/>
              <a:t>. </a:t>
            </a:r>
            <a:r>
              <a:rPr lang="ko-KR" altLang="en-US" dirty="0" err="1"/>
              <a:t>머신러닝</a:t>
            </a:r>
            <a:r>
              <a:rPr lang="ko-KR" altLang="en-US" dirty="0"/>
              <a:t> 기반 데이터 분석 결과의 질은 필요한 기법이나 알고리즘에 도 좌우되지만</a:t>
            </a:r>
            <a:r>
              <a:rPr lang="en-US" altLang="ko-KR" dirty="0"/>
              <a:t>,  </a:t>
            </a:r>
            <a:r>
              <a:rPr lang="ko-KR" altLang="en-US" dirty="0"/>
              <a:t>데이터의 질에 따라 크게 좌우되므로 데이터 전처리와 변환 및 탐색 단계가 매우 중요하다</a:t>
            </a:r>
            <a:r>
              <a:rPr lang="en-US" altLang="ko-KR" dirty="0"/>
              <a:t>. </a:t>
            </a:r>
            <a:r>
              <a:rPr lang="ko-KR" altLang="en-US" dirty="0"/>
              <a:t>실제로 대부분의 분석과 마찬가지로 </a:t>
            </a:r>
            <a:r>
              <a:rPr lang="ko-KR" altLang="en-US" dirty="0" err="1"/>
              <a:t>머신러닝</a:t>
            </a:r>
            <a:r>
              <a:rPr lang="ko-KR" altLang="en-US" dirty="0"/>
              <a:t> 기반 데이터 분석 프로 </a:t>
            </a:r>
            <a:r>
              <a:rPr lang="ko-KR" altLang="en-US" dirty="0" err="1"/>
              <a:t>세스</a:t>
            </a:r>
            <a:r>
              <a:rPr lang="ko-KR" altLang="en-US" dirty="0"/>
              <a:t> 중에서도 이 단계가 가장 많은 시간과 노력을 들이게 되는 단계라고 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모델 수립</a:t>
            </a:r>
          </a:p>
          <a:p>
            <a:pPr lvl="1"/>
            <a:r>
              <a:rPr lang="ko-KR" altLang="en-US" dirty="0"/>
              <a:t>데이터 전처리와 탐색을 거친 후 사용하고자 하는 </a:t>
            </a:r>
            <a:r>
              <a:rPr lang="ko-KR" altLang="en-US" dirty="0" err="1"/>
              <a:t>머신러닝</a:t>
            </a:r>
            <a:r>
              <a:rPr lang="ko-KR" altLang="en-US" dirty="0"/>
              <a:t> 기법을 적용하여 데이터를 학 습하는 단계이다</a:t>
            </a:r>
            <a:r>
              <a:rPr lang="en-US" altLang="ko-KR" dirty="0"/>
              <a:t>. </a:t>
            </a:r>
            <a:r>
              <a:rPr lang="ko-KR" altLang="en-US" dirty="0"/>
              <a:t>물론 지도학습의 경우는 모델 훈련을 위해 데이터를 학습용 데이터와 검증용 및 평가용 데이터로 분할하거나</a:t>
            </a:r>
            <a:r>
              <a:rPr lang="en-US" altLang="ko-KR" dirty="0"/>
              <a:t>,  </a:t>
            </a:r>
            <a:r>
              <a:rPr lang="ko-KR" altLang="en-US" dirty="0"/>
              <a:t>교차검증 등에 대한 설계를 거친 후 모델훈련을 하게 된다</a:t>
            </a:r>
            <a:r>
              <a:rPr lang="en-US" altLang="ko-KR" dirty="0"/>
              <a:t>. </a:t>
            </a:r>
            <a:r>
              <a:rPr lang="ko-KR" altLang="en-US" dirty="0"/>
              <a:t>자율학습의 경우는 </a:t>
            </a:r>
            <a:r>
              <a:rPr lang="ko-KR" altLang="en-US" dirty="0" err="1"/>
              <a:t>목적값을</a:t>
            </a:r>
            <a:r>
              <a:rPr lang="ko-KR" altLang="en-US" dirty="0"/>
              <a:t> 가지지 않기 때문에 모델훈련을 </a:t>
            </a:r>
            <a:r>
              <a:rPr lang="ko-KR" altLang="en-US" dirty="0" err="1"/>
              <a:t>한다기보다는</a:t>
            </a:r>
            <a:r>
              <a:rPr lang="ko-KR" altLang="en-US" dirty="0"/>
              <a:t> 바로 분석을 통한 패턴도출의 과정을 수행한다고 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모델 성능 평가</a:t>
            </a:r>
          </a:p>
          <a:p>
            <a:pPr lvl="1"/>
            <a:r>
              <a:rPr lang="ko-KR" altLang="en-US" dirty="0"/>
              <a:t>일반적으로 </a:t>
            </a:r>
            <a:r>
              <a:rPr lang="ko-KR" altLang="en-US" dirty="0" err="1"/>
              <a:t>머신러닝</a:t>
            </a:r>
            <a:r>
              <a:rPr lang="ko-KR" altLang="en-US" dirty="0"/>
              <a:t> 기반 학습 모델은 모델 훈련에 사용한 훈련데이터에 편향된 결과값 을 내는 경향이 많으므로</a:t>
            </a:r>
            <a:r>
              <a:rPr lang="en-US" altLang="ko-KR" dirty="0"/>
              <a:t>, 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알고리즘이 데이터로부터 얼마나 잘 학습했는지를 평 가하기 위해 평가 데이터 세트를 이용하여 모델의 정확도를 평가하게 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자율학습의 경우에는 평가 데이터 세트를 두지 않는 경우가 일반적이므로 교차검증보다 는 분석과정에서 도출</a:t>
            </a:r>
          </a:p>
          <a:p>
            <a:r>
              <a:rPr lang="ko-KR" altLang="en-US" dirty="0"/>
              <a:t>모델 성능 향상 및 현업 적용</a:t>
            </a:r>
            <a:endParaRPr lang="en-US" altLang="ko-KR" dirty="0"/>
          </a:p>
          <a:p>
            <a:pPr lvl="1"/>
            <a:r>
              <a:rPr lang="ko-KR" altLang="en-US" dirty="0"/>
              <a:t>일반적으로 단일 </a:t>
            </a:r>
            <a:r>
              <a:rPr lang="ko-KR" altLang="en-US" dirty="0" err="1"/>
              <a:t>머신러닝</a:t>
            </a:r>
            <a:r>
              <a:rPr lang="ko-KR" altLang="en-US" dirty="0"/>
              <a:t> 분석 프로세스로 해결하고자 하는 이슈가 단번에 해결되는 경우는 거의 없으며</a:t>
            </a:r>
            <a:r>
              <a:rPr lang="en-US" altLang="ko-KR" dirty="0"/>
              <a:t>,  </a:t>
            </a:r>
            <a:r>
              <a:rPr lang="ko-KR" altLang="en-US" dirty="0"/>
              <a:t>지속적으로 모델 파라미터나 추정방법 등을 변화시켜서 모델성능을 꾀하게 된다</a:t>
            </a:r>
            <a:r>
              <a:rPr lang="en-US" altLang="ko-KR" dirty="0"/>
              <a:t>. </a:t>
            </a:r>
            <a:r>
              <a:rPr lang="ko-KR" altLang="en-US" dirty="0"/>
              <a:t>때로는 다른 알고리즘을 적용하여 원래 적용한 알고리즘과 성능을 비교하게 된다</a:t>
            </a:r>
            <a:r>
              <a:rPr lang="en-US" altLang="ko-KR" dirty="0"/>
              <a:t>. </a:t>
            </a:r>
            <a:r>
              <a:rPr lang="ko-KR" altLang="en-US" dirty="0"/>
              <a:t>모델성능이 어느 정도여야 만족스러운 성능인가에 관한 판단은 분석하고자 하는 이 슈나 비즈니스 도메인에 따라 달라질 수 있으며</a:t>
            </a:r>
            <a:r>
              <a:rPr lang="en-US" altLang="ko-KR" dirty="0"/>
              <a:t>,  </a:t>
            </a:r>
            <a:r>
              <a:rPr lang="ko-KR" altLang="en-US" dirty="0"/>
              <a:t>어떤 </a:t>
            </a:r>
            <a:r>
              <a:rPr lang="ko-KR" altLang="en-US" dirty="0" err="1"/>
              <a:t>경우든</a:t>
            </a:r>
            <a:r>
              <a:rPr lang="ko-KR" altLang="en-US" dirty="0"/>
              <a:t> 모델성능이 충분히 </a:t>
            </a:r>
            <a:r>
              <a:rPr lang="ko-KR" altLang="en-US" dirty="0" err="1"/>
              <a:t>향상되</a:t>
            </a:r>
            <a:r>
              <a:rPr lang="ko-KR" altLang="en-US" dirty="0"/>
              <a:t> </a:t>
            </a:r>
            <a:r>
              <a:rPr lang="ko-KR" altLang="en-US" dirty="0" err="1"/>
              <a:t>었다는</a:t>
            </a:r>
            <a:r>
              <a:rPr lang="ko-KR" altLang="en-US" dirty="0"/>
              <a:t> 판단에 대한 절대적인 기준이 존재하는 것은 아니다</a:t>
            </a:r>
            <a:r>
              <a:rPr lang="en-US" altLang="ko-KR" dirty="0"/>
              <a:t>. </a:t>
            </a:r>
            <a:r>
              <a:rPr lang="ko-KR" altLang="en-US" dirty="0"/>
              <a:t>그렇지만</a:t>
            </a:r>
            <a:r>
              <a:rPr lang="en-US" altLang="ko-KR" dirty="0"/>
              <a:t>,   </a:t>
            </a:r>
            <a:r>
              <a:rPr lang="ko-KR" altLang="en-US" dirty="0"/>
              <a:t>분석가는 여러가지 알고리즘을 비교 적용해보고</a:t>
            </a:r>
            <a:r>
              <a:rPr lang="en-US" altLang="ko-KR" dirty="0"/>
              <a:t>,   </a:t>
            </a:r>
            <a:r>
              <a:rPr lang="ko-KR" altLang="en-US" dirty="0"/>
              <a:t>동일 알고리즘 내에서도 파라미터나 추정방법 등을 바꿔가며 만족스러운 수준이라고 판단될 때까지 모델성능 향상을 모색해볼 필요가 있다</a:t>
            </a:r>
            <a:r>
              <a:rPr lang="en-US" altLang="ko-KR" dirty="0"/>
              <a:t>. </a:t>
            </a:r>
            <a:r>
              <a:rPr lang="ko-KR" altLang="en-US" dirty="0"/>
              <a:t>이런 과정이 끝난 후 모델이 만족할 만큼 결과값이 도출된다면</a:t>
            </a:r>
            <a:r>
              <a:rPr lang="en-US" altLang="ko-KR" dirty="0"/>
              <a:t>,  </a:t>
            </a:r>
            <a:r>
              <a:rPr lang="ko-KR" altLang="en-US" dirty="0"/>
              <a:t>당초 의도했던 비즈니스 이슈 에 적용할 수 있다</a:t>
            </a:r>
            <a:r>
              <a:rPr lang="en-US" altLang="ko-KR" dirty="0"/>
              <a:t>. </a:t>
            </a:r>
            <a:r>
              <a:rPr lang="ko-KR" altLang="en-US" dirty="0"/>
              <a:t>경우에 따라서는 자동화나 시스템 연계를 위한 추가적인 개발 작업이 필요하게 될 수도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07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89FDD-A55B-C82B-46E4-627A4C14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이해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85CC70B-3A55-0F56-2A64-ED58FF004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281" y="1407002"/>
            <a:ext cx="10831437" cy="4544059"/>
          </a:xfrm>
        </p:spPr>
      </p:pic>
    </p:spTree>
    <p:extLst>
      <p:ext uri="{BB962C8B-B14F-4D97-AF65-F5344CB8AC3E}">
        <p14:creationId xmlns:p14="http://schemas.microsoft.com/office/powerpoint/2010/main" val="206869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11C87-1CB4-3BCE-F99F-5A59A8F3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종류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EDE0117-0BCA-E446-B997-5F0125265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598" y="1326028"/>
            <a:ext cx="10240804" cy="4706007"/>
          </a:xfrm>
        </p:spPr>
      </p:pic>
    </p:spTree>
    <p:extLst>
      <p:ext uri="{BB962C8B-B14F-4D97-AF65-F5344CB8AC3E}">
        <p14:creationId xmlns:p14="http://schemas.microsoft.com/office/powerpoint/2010/main" val="88747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1A59E-0F08-320D-C2BF-4FFDB18C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지도학습의 기법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7226927-22B0-069D-2C82-E4E7303F5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126331"/>
            <a:ext cx="10972800" cy="5105400"/>
          </a:xfrm>
        </p:spPr>
      </p:pic>
    </p:spTree>
    <p:extLst>
      <p:ext uri="{BB962C8B-B14F-4D97-AF65-F5344CB8AC3E}">
        <p14:creationId xmlns:p14="http://schemas.microsoft.com/office/powerpoint/2010/main" val="277076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3A4CC-E637-A095-9DFA-CB6E7FC0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지도학습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D8D9914-EB55-0C4E-A2BD-6B6A286CA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018" y="1254580"/>
            <a:ext cx="10659963" cy="4848902"/>
          </a:xfrm>
        </p:spPr>
      </p:pic>
    </p:spTree>
    <p:extLst>
      <p:ext uri="{BB962C8B-B14F-4D97-AF65-F5344CB8AC3E}">
        <p14:creationId xmlns:p14="http://schemas.microsoft.com/office/powerpoint/2010/main" val="382551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C53AE-5E27-1773-C8B2-9CF82B28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회귀와 분류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5DDEDDC-E812-3754-779F-E3AC8A88F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9599" y="1645160"/>
            <a:ext cx="8792802" cy="4067743"/>
          </a:xfrm>
        </p:spPr>
      </p:pic>
    </p:spTree>
    <p:extLst>
      <p:ext uri="{BB962C8B-B14F-4D97-AF65-F5344CB8AC3E}">
        <p14:creationId xmlns:p14="http://schemas.microsoft.com/office/powerpoint/2010/main" val="28504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7F06F-7079-6DAB-197E-9B0BB676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회귀와 분류 </a:t>
            </a:r>
            <a:r>
              <a:rPr lang="en-US" altLang="ko-KR" dirty="0"/>
              <a:t>: </a:t>
            </a:r>
            <a:r>
              <a:rPr lang="ko-KR" altLang="en-US" dirty="0"/>
              <a:t>데이터의 차이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A7A4EF8-DD00-A92C-263E-8C4DC8A3F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756" y="1035475"/>
            <a:ext cx="9764488" cy="5287113"/>
          </a:xfrm>
        </p:spPr>
      </p:pic>
    </p:spTree>
    <p:extLst>
      <p:ext uri="{BB962C8B-B14F-4D97-AF65-F5344CB8AC3E}">
        <p14:creationId xmlns:p14="http://schemas.microsoft.com/office/powerpoint/2010/main" val="60160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A47C4-911F-C61C-65EC-67F77CC5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비지도 학습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50DA00C-0976-18C2-EFDB-228AD3EA8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77" y="1264107"/>
            <a:ext cx="10364646" cy="4829849"/>
          </a:xfrm>
        </p:spPr>
      </p:pic>
    </p:spTree>
    <p:extLst>
      <p:ext uri="{BB962C8B-B14F-4D97-AF65-F5344CB8AC3E}">
        <p14:creationId xmlns:p14="http://schemas.microsoft.com/office/powerpoint/2010/main" val="422022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07626-08DB-F72A-C630-8EB396EF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머신러닝을</a:t>
            </a:r>
            <a:r>
              <a:rPr lang="ko-KR" altLang="en-US" dirty="0"/>
              <a:t> 활용한 데이터 분석 절차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E4FE540-9257-E4F4-E4F1-8436C3406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012875"/>
            <a:ext cx="10972800" cy="5332313"/>
          </a:xfrm>
        </p:spPr>
      </p:pic>
    </p:spTree>
    <p:extLst>
      <p:ext uri="{BB962C8B-B14F-4D97-AF65-F5344CB8AC3E}">
        <p14:creationId xmlns:p14="http://schemas.microsoft.com/office/powerpoint/2010/main" val="1045154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8E128-BCCD-48E9-F423-74A55AFD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오렌지에서 학습 알고리즘</a:t>
            </a:r>
            <a:r>
              <a:rPr lang="en-US" altLang="ko-KR" dirty="0"/>
              <a:t>(Learner)</a:t>
            </a:r>
            <a:r>
              <a:rPr lang="ko-KR" altLang="en-US" dirty="0"/>
              <a:t>과 모델</a:t>
            </a:r>
            <a:r>
              <a:rPr lang="en-US" altLang="ko-KR" dirty="0"/>
              <a:t>(Model) </a:t>
            </a:r>
            <a:r>
              <a:rPr lang="ko-KR" altLang="en-US" dirty="0"/>
              <a:t>차이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42789AA-E598-5238-3E49-CCF18B274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203" y="1287923"/>
            <a:ext cx="10707594" cy="4782217"/>
          </a:xfrm>
        </p:spPr>
      </p:pic>
    </p:spTree>
    <p:extLst>
      <p:ext uri="{BB962C8B-B14F-4D97-AF65-F5344CB8AC3E}">
        <p14:creationId xmlns:p14="http://schemas.microsoft.com/office/powerpoint/2010/main" val="117600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8B482-F5FD-7515-3365-A7DB200C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</a:t>
            </a:r>
            <a:r>
              <a:rPr lang="en-US" altLang="ko-KR" dirty="0"/>
              <a:t>(Test and Score)</a:t>
            </a:r>
            <a:r>
              <a:rPr lang="ko-KR" altLang="en-US" dirty="0"/>
              <a:t>와 예측</a:t>
            </a:r>
            <a:r>
              <a:rPr lang="en-US" altLang="ko-KR" dirty="0"/>
              <a:t>(Prediction)</a:t>
            </a:r>
            <a:r>
              <a:rPr lang="ko-KR" altLang="en-US" dirty="0"/>
              <a:t>의 차이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56500F8-2C12-71EF-9529-A97E01366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440" y="978317"/>
            <a:ext cx="10355120" cy="5401429"/>
          </a:xfrm>
        </p:spPr>
      </p:pic>
    </p:spTree>
    <p:extLst>
      <p:ext uri="{BB962C8B-B14F-4D97-AF65-F5344CB8AC3E}">
        <p14:creationId xmlns:p14="http://schemas.microsoft.com/office/powerpoint/2010/main" val="2105465770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바인드소프트</Template>
  <TotalTime>293</TotalTime>
  <Words>575</Words>
  <Application>Microsoft Office PowerPoint</Application>
  <PresentationFormat>와이드스크린</PresentationFormat>
  <Paragraphs>29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HY견고딕</vt:lpstr>
      <vt:lpstr>맑은 고딕</vt:lpstr>
      <vt:lpstr>Arial</vt:lpstr>
      <vt:lpstr>Wingdings</vt:lpstr>
      <vt:lpstr>바인드소프트</vt:lpstr>
      <vt:lpstr>인공지능 솔루션</vt:lpstr>
      <vt:lpstr>머신러닝</vt:lpstr>
      <vt:lpstr>머신러닝의 이해 - 머신러닝 기반 데이터 분석 계획 및 절차</vt:lpstr>
      <vt:lpstr>머신러닝의 이해 - 머신러닝 기반 데이터 분석 계획 및 절차</vt:lpstr>
      <vt:lpstr>머신러닝의 이해</vt:lpstr>
      <vt:lpstr>머신러닝의 종류</vt:lpstr>
      <vt:lpstr>지도학습의 기법</vt:lpstr>
      <vt:lpstr>지도학습</vt:lpstr>
      <vt:lpstr>회귀와 분류</vt:lpstr>
      <vt:lpstr>회귀와 분류 : 데이터의 차이</vt:lpstr>
      <vt:lpstr>비지도 학습</vt:lpstr>
      <vt:lpstr>머신러닝을 활용한 데이터 분석 절차</vt:lpstr>
      <vt:lpstr>오렌지에서 학습 알고리즘(Learner)과 모델(Model) 차이</vt:lpstr>
      <vt:lpstr>평가(Test and Score)와 예측(Prediction)의 차이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Sugil Choi</dc:creator>
  <cp:lastModifiedBy>Sugil Choi</cp:lastModifiedBy>
  <cp:revision>10</cp:revision>
  <dcterms:created xsi:type="dcterms:W3CDTF">2024-08-29T01:37:42Z</dcterms:created>
  <dcterms:modified xsi:type="dcterms:W3CDTF">2024-09-05T02:44:18Z</dcterms:modified>
</cp:coreProperties>
</file>