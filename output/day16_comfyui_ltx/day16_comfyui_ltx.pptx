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notesMasterIdLst>
    <p:notesMasterId r:id="rId4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notesMaster" Target="notesMasters/notesMaster1.xml"/><Relationship Id="rId43" Type="http://schemas.openxmlformats.org/officeDocument/2006/relationships/presProps" Target="presProps.xml"/><Relationship Id="rId44" Type="http://schemas.openxmlformats.org/officeDocument/2006/relationships/viewProps" Target="viewProps.xml"/><Relationship Id="rId45" Type="http://schemas.openxmlformats.org/officeDocument/2006/relationships/theme" Target="theme/theme1.xml"/><Relationship Id="rId4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201168"/>
            <a:ext cx="8631936" cy="4736592"/>
          </a:xfrm>
          <a:prstGeom prst="rect">
            <a:avLst/>
          </a:prstGeom>
          <a:solidFill>
            <a:srgbClr val="10182D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73568" y="201168"/>
            <a:ext cx="914400" cy="4736592"/>
          </a:xfrm>
          <a:prstGeom prst="rect">
            <a:avLst/>
          </a:prstGeom>
          <a:solidFill>
            <a:srgbClr val="0F1E38"/>
          </a:solidFill>
          <a:ln w="6350">
            <a:solidFill>
              <a:srgbClr val="2A36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310896"/>
            <a:ext cx="768096" cy="182880"/>
          </a:xfrm>
          <a:prstGeom prst="rect">
            <a:avLst/>
          </a:prstGeom>
          <a:solidFill>
            <a:srgbClr val="17304D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1D9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오전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8156448" y="310896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AB7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/ 40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603504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41D9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16 / OPENING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822960"/>
            <a:ext cx="7040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고성능 AI 영상 제작 실무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1207008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B7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ComfyUI + LTX-Video로 비즈니스 홍보 영상 제작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" y="1499616"/>
            <a:ext cx="3794760" cy="2505456"/>
          </a:xfrm>
          <a:prstGeom prst="rect">
            <a:avLst/>
          </a:prstGeom>
          <a:solidFill>
            <a:srgbClr val="121A30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98848" y="1499616"/>
            <a:ext cx="3273552" cy="2505456"/>
          </a:xfrm>
          <a:prstGeom prst="rect">
            <a:avLst/>
          </a:prstGeom>
          <a:solidFill>
            <a:srgbClr val="121A30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664208"/>
            <a:ext cx="3456432" cy="21762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342900" indent="-342900">
              <a:buSzPct val="100000"/>
              <a:buChar char="•"/>
            </a:pPr>
            <a:r>
              <a:rPr lang="en-US" sz="131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오늘 목표는 ComfyUI 기반의 영상 생성 파이프라인을 직접 구성하는 것이다.</a:t>
            </a:r>
            <a:endParaRPr lang="en-US" sz="1310" dirty="0"/>
          </a:p>
          <a:p>
            <a:pPr marL="342900" indent="-342900">
              <a:buSzPct val="100000"/>
              <a:buChar char="•"/>
            </a:pPr>
            <a:r>
              <a:rPr lang="en-US" sz="131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오전에는 환경 세팅과 LTX-Video 구조를 이해하고 실습 준비를 완료한다.</a:t>
            </a:r>
            <a:endParaRPr lang="en-US" sz="1310" dirty="0"/>
          </a:p>
          <a:p>
            <a:pPr marL="342900" indent="-342900">
              <a:buSzPct val="100000"/>
              <a:buChar char="•"/>
            </a:pPr>
            <a:r>
              <a:rPr lang="en-US" sz="131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오후에는 Text-to-Video와 Image-to-Video를 활용해 일관성 있는 홍보 영상을 제작한다.</a:t>
            </a:r>
            <a:endParaRPr lang="en-US" sz="1310" dirty="0"/>
          </a:p>
        </p:txBody>
      </p:sp>
      <p:sp>
        <p:nvSpPr>
          <p:cNvPr id="12" name="Text 10"/>
          <p:cNvSpPr/>
          <p:nvPr/>
        </p:nvSpPr>
        <p:spPr>
          <a:xfrm>
            <a:off x="4645152" y="1645920"/>
            <a:ext cx="2962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AB7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학습 축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645152" y="1901952"/>
            <a:ext cx="914400" cy="457200"/>
          </a:xfrm>
          <a:prstGeom prst="roundRect">
            <a:avLst>
              <a:gd name="adj" fmla="val 16000"/>
            </a:avLst>
          </a:prstGeom>
          <a:solidFill>
            <a:srgbClr val="162441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0016" y="1993392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1D9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ComfyUI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669280" y="1901952"/>
            <a:ext cx="914400" cy="457200"/>
          </a:xfrm>
          <a:prstGeom prst="roundRect">
            <a:avLst>
              <a:gd name="adj" fmla="val 16000"/>
            </a:avLst>
          </a:prstGeom>
          <a:solidFill>
            <a:srgbClr val="162441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24144" y="1993392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C7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LTX-Video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693408" y="1901952"/>
            <a:ext cx="914400" cy="457200"/>
          </a:xfrm>
          <a:prstGeom prst="roundRect">
            <a:avLst>
              <a:gd name="adj" fmla="val 16000"/>
            </a:avLst>
          </a:prstGeom>
          <a:solidFill>
            <a:srgbClr val="162441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48272" y="1993392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1D9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645152" y="2542032"/>
            <a:ext cx="914400" cy="457200"/>
          </a:xfrm>
          <a:prstGeom prst="roundRect">
            <a:avLst>
              <a:gd name="adj" fmla="val 16000"/>
            </a:avLst>
          </a:prstGeom>
          <a:solidFill>
            <a:srgbClr val="162441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00016" y="2633472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1D9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CFG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669280" y="2542032"/>
            <a:ext cx="914400" cy="457200"/>
          </a:xfrm>
          <a:prstGeom prst="roundRect">
            <a:avLst>
              <a:gd name="adj" fmla="val 16000"/>
            </a:avLst>
          </a:prstGeom>
          <a:solidFill>
            <a:srgbClr val="162441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24144" y="2633472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C7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Sampler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693408" y="2542032"/>
            <a:ext cx="914400" cy="457200"/>
          </a:xfrm>
          <a:prstGeom prst="roundRect">
            <a:avLst>
              <a:gd name="adj" fmla="val 16000"/>
            </a:avLst>
          </a:prstGeom>
          <a:solidFill>
            <a:srgbClr val="162441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48272" y="2633472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1D9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Video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75488" y="4096512"/>
            <a:ext cx="7296912" cy="512064"/>
          </a:xfrm>
          <a:prstGeom prst="rect">
            <a:avLst/>
          </a:prstGeom>
          <a:solidFill>
            <a:srgbClr val="111B33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3504" y="4206240"/>
            <a:ext cx="7680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FF6B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강사 포인트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1499616" y="4169664"/>
            <a:ext cx="5998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AAB7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오늘 수업은 기능 소개보다 실무 제작 흐름 체득에 초점을 둔다. 오전에 구조를 잡고 오후에 결과물을 만든다는 흐름을 먼저 고정해 준다.</a:t>
            </a:r>
            <a:endParaRPr lang="en-US" sz="960" dirty="0"/>
          </a:p>
        </p:txBody>
      </p:sp>
      <p:sp>
        <p:nvSpPr>
          <p:cNvPr id="28" name="Text 26"/>
          <p:cNvSpPr/>
          <p:nvPr/>
        </p:nvSpPr>
        <p:spPr>
          <a:xfrm rot="5400000">
            <a:off x="8119872" y="109728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1D9E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Morning Lab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201168"/>
            <a:ext cx="8631936" cy="4736592"/>
          </a:xfrm>
          <a:prstGeom prst="rect">
            <a:avLst/>
          </a:prstGeom>
          <a:solidFill>
            <a:srgbClr val="10182D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73568" y="201168"/>
            <a:ext cx="914400" cy="4736592"/>
          </a:xfrm>
          <a:prstGeom prst="rect">
            <a:avLst/>
          </a:prstGeom>
          <a:solidFill>
            <a:srgbClr val="132347"/>
          </a:solidFill>
          <a:ln w="6350">
            <a:solidFill>
              <a:srgbClr val="2A36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310896"/>
            <a:ext cx="768096" cy="182880"/>
          </a:xfrm>
          <a:prstGeom prst="rect">
            <a:avLst/>
          </a:prstGeom>
          <a:solidFill>
            <a:srgbClr val="17304D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1D9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오전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8156448" y="310896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AB7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/ 40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603504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41D9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LEARNING GOALS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822960"/>
            <a:ext cx="7040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학습 목표와 기대 산출물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4498848" y="1426464"/>
            <a:ext cx="3794760" cy="2505456"/>
          </a:xfrm>
          <a:prstGeom prst="rect">
            <a:avLst/>
          </a:prstGeom>
          <a:solidFill>
            <a:srgbClr val="121A30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" y="1426464"/>
            <a:ext cx="3273552" cy="2505456"/>
          </a:xfrm>
          <a:prstGeom prst="rect">
            <a:avLst/>
          </a:prstGeom>
          <a:solidFill>
            <a:srgbClr val="121A30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1591056"/>
            <a:ext cx="3456432" cy="21762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342900" indent="-342900">
              <a:buSzPct val="100000"/>
              <a:buChar char="•"/>
            </a:pPr>
            <a:r>
              <a:rPr lang="en-US" sz="131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ComfyUI에서 영상 생성용 노드 흐름을 읽고 수정할 수 있다.</a:t>
            </a:r>
            <a:endParaRPr lang="en-US" sz="1310" dirty="0"/>
          </a:p>
          <a:p>
            <a:pPr marL="342900" indent="-342900">
              <a:buSzPct val="100000"/>
              <a:buChar char="•"/>
            </a:pPr>
            <a:r>
              <a:rPr lang="en-US" sz="131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LTX-Video의 핵심 개념과 파라미터가 결과물에 미치는 영향을 설명할 수 있다.</a:t>
            </a:r>
            <a:endParaRPr lang="en-US" sz="1310" dirty="0"/>
          </a:p>
          <a:p>
            <a:pPr marL="342900" indent="-342900">
              <a:buSzPct val="100000"/>
              <a:buChar char="•"/>
            </a:pPr>
            <a:r>
              <a:rPr lang="en-US" sz="131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수업 종료 시 5~10초 분량의 홍보 영상 샘플과 재사용 가능한 워크플로를 확보한다.</a:t>
            </a:r>
            <a:endParaRPr lang="en-US" sz="1310" dirty="0"/>
          </a:p>
        </p:txBody>
      </p:sp>
      <p:sp>
        <p:nvSpPr>
          <p:cNvPr id="11" name="Text 9"/>
          <p:cNvSpPr/>
          <p:nvPr/>
        </p:nvSpPr>
        <p:spPr>
          <a:xfrm>
            <a:off x="621792" y="1572768"/>
            <a:ext cx="2962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AB7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성과물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21792" y="1828800"/>
            <a:ext cx="1426464" cy="822960"/>
          </a:xfrm>
          <a:prstGeom prst="rect">
            <a:avLst/>
          </a:prstGeom>
          <a:solidFill>
            <a:srgbClr val="162441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8096" y="1956816"/>
            <a:ext cx="1207008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워크플로 JSON</a:t>
            </a:r>
            <a:endParaRPr lang="en-US" sz="1120" dirty="0"/>
          </a:p>
        </p:txBody>
      </p:sp>
      <p:sp>
        <p:nvSpPr>
          <p:cNvPr id="14" name="Shape 12"/>
          <p:cNvSpPr/>
          <p:nvPr/>
        </p:nvSpPr>
        <p:spPr>
          <a:xfrm>
            <a:off x="2157984" y="1828800"/>
            <a:ext cx="1426464" cy="822960"/>
          </a:xfrm>
          <a:prstGeom prst="rect">
            <a:avLst/>
          </a:prstGeom>
          <a:solidFill>
            <a:srgbClr val="162441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304288" y="1956816"/>
            <a:ext cx="1207008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프롬프트 세트</a:t>
            </a:r>
            <a:endParaRPr lang="en-US" sz="1120" dirty="0"/>
          </a:p>
        </p:txBody>
      </p:sp>
      <p:sp>
        <p:nvSpPr>
          <p:cNvPr id="16" name="Shape 14"/>
          <p:cNvSpPr/>
          <p:nvPr/>
        </p:nvSpPr>
        <p:spPr>
          <a:xfrm>
            <a:off x="621792" y="2761488"/>
            <a:ext cx="1426464" cy="822960"/>
          </a:xfrm>
          <a:prstGeom prst="rect">
            <a:avLst/>
          </a:prstGeom>
          <a:solidFill>
            <a:srgbClr val="162441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8096" y="2889504"/>
            <a:ext cx="1207008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샘플 영상</a:t>
            </a:r>
            <a:endParaRPr lang="en-US" sz="1120" dirty="0"/>
          </a:p>
        </p:txBody>
      </p:sp>
      <p:sp>
        <p:nvSpPr>
          <p:cNvPr id="18" name="Shape 16"/>
          <p:cNvSpPr/>
          <p:nvPr/>
        </p:nvSpPr>
        <p:spPr>
          <a:xfrm>
            <a:off x="2157984" y="2761488"/>
            <a:ext cx="1426464" cy="822960"/>
          </a:xfrm>
          <a:prstGeom prst="rect">
            <a:avLst/>
          </a:prstGeom>
          <a:solidFill>
            <a:srgbClr val="162441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304288" y="2889504"/>
            <a:ext cx="1207008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품질 점검표</a:t>
            </a:r>
            <a:endParaRPr lang="en-US" sz="1120" dirty="0"/>
          </a:p>
        </p:txBody>
      </p:sp>
      <p:sp>
        <p:nvSpPr>
          <p:cNvPr id="20" name="Shape 18"/>
          <p:cNvSpPr/>
          <p:nvPr/>
        </p:nvSpPr>
        <p:spPr>
          <a:xfrm>
            <a:off x="475488" y="4096512"/>
            <a:ext cx="7296912" cy="512064"/>
          </a:xfrm>
          <a:prstGeom prst="rect">
            <a:avLst/>
          </a:prstGeom>
          <a:solidFill>
            <a:srgbClr val="111B33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3504" y="4206240"/>
            <a:ext cx="7680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FF6B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강사 포인트</a:t>
            </a:r>
            <a:endParaRPr lang="en-US" sz="930" dirty="0"/>
          </a:p>
        </p:txBody>
      </p:sp>
      <p:sp>
        <p:nvSpPr>
          <p:cNvPr id="22" name="Text 20"/>
          <p:cNvSpPr/>
          <p:nvPr/>
        </p:nvSpPr>
        <p:spPr>
          <a:xfrm>
            <a:off x="1499616" y="4169664"/>
            <a:ext cx="5998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AAB7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학습 목표를 기능 중심이 아니라 산출물 중심으로 제시해 학습자들이 무엇을 완성해야 하는지 명확히 인식하게 한다.</a:t>
            </a:r>
            <a:endParaRPr lang="en-US" sz="960" dirty="0"/>
          </a:p>
        </p:txBody>
      </p:sp>
      <p:sp>
        <p:nvSpPr>
          <p:cNvPr id="23" name="Text 21"/>
          <p:cNvSpPr/>
          <p:nvPr/>
        </p:nvSpPr>
        <p:spPr>
          <a:xfrm rot="5400000">
            <a:off x="8119872" y="109728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C72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Morning Lab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201168"/>
            <a:ext cx="8631936" cy="4736592"/>
          </a:xfrm>
          <a:prstGeom prst="rect">
            <a:avLst/>
          </a:prstGeom>
          <a:solidFill>
            <a:srgbClr val="10182D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73568" y="201168"/>
            <a:ext cx="914400" cy="4736592"/>
          </a:xfrm>
          <a:prstGeom prst="rect">
            <a:avLst/>
          </a:prstGeom>
          <a:solidFill>
            <a:srgbClr val="0F1E38"/>
          </a:solidFill>
          <a:ln w="6350">
            <a:solidFill>
              <a:srgbClr val="2A36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310896"/>
            <a:ext cx="768096" cy="182880"/>
          </a:xfrm>
          <a:prstGeom prst="rect">
            <a:avLst/>
          </a:prstGeom>
          <a:solidFill>
            <a:srgbClr val="17304D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1D9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오전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8156448" y="310896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AB7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/ 40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603504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41D9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AGENDA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822960"/>
            <a:ext cx="7040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하루 40장 교안 구성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475488" y="1426464"/>
            <a:ext cx="3794760" cy="2505456"/>
          </a:xfrm>
          <a:prstGeom prst="rect">
            <a:avLst/>
          </a:prstGeom>
          <a:solidFill>
            <a:srgbClr val="121A30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98848" y="1426464"/>
            <a:ext cx="3273552" cy="2505456"/>
          </a:xfrm>
          <a:prstGeom prst="rect">
            <a:avLst/>
          </a:prstGeom>
          <a:solidFill>
            <a:srgbClr val="121A30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591056"/>
            <a:ext cx="3456432" cy="21762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342900" indent="-342900">
              <a:buSzPct val="100000"/>
              <a:buChar char="•"/>
            </a:pPr>
            <a:r>
              <a:rPr lang="en-US" sz="131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1~20장은 오전 세션으로 환경, 구조, 파이프라인 이해를 다룬다.</a:t>
            </a:r>
            <a:endParaRPr lang="en-US" sz="1310" dirty="0"/>
          </a:p>
          <a:p>
            <a:pPr marL="342900" indent="-342900">
              <a:buSzPct val="100000"/>
              <a:buChar char="•"/>
            </a:pPr>
            <a:r>
              <a:rPr lang="en-US" sz="131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21~40장은 오후 세션으로 CFG, 샘플러, 일관성 제어, 홍보 영상 제작을 다룬다.</a:t>
            </a:r>
            <a:endParaRPr lang="en-US" sz="1310" dirty="0"/>
          </a:p>
          <a:p>
            <a:pPr marL="342900" indent="-342900">
              <a:buSzPct val="100000"/>
              <a:buChar char="•"/>
            </a:pPr>
            <a:r>
              <a:rPr lang="en-US" sz="131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각 블록은 개념 2~3장, 시각화 1장, 실습/체크리스트 1~2장으로 배열한다.</a:t>
            </a:r>
            <a:endParaRPr lang="en-US" sz="1310" dirty="0"/>
          </a:p>
        </p:txBody>
      </p:sp>
      <p:sp>
        <p:nvSpPr>
          <p:cNvPr id="11" name="Text 9"/>
          <p:cNvSpPr/>
          <p:nvPr/>
        </p:nvSpPr>
        <p:spPr>
          <a:xfrm>
            <a:off x="4645152" y="1572768"/>
            <a:ext cx="2962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AB7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진행 흐름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645152" y="1828800"/>
            <a:ext cx="504749" cy="822960"/>
          </a:xfrm>
          <a:prstGeom prst="rect">
            <a:avLst/>
          </a:prstGeom>
          <a:solidFill>
            <a:srgbClr val="162441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91456" y="1956816"/>
            <a:ext cx="285293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세팅</a:t>
            </a:r>
            <a:endParaRPr lang="en-US" sz="1120" dirty="0"/>
          </a:p>
        </p:txBody>
      </p:sp>
      <p:sp>
        <p:nvSpPr>
          <p:cNvPr id="14" name="Shape 12"/>
          <p:cNvSpPr/>
          <p:nvPr/>
        </p:nvSpPr>
        <p:spPr>
          <a:xfrm>
            <a:off x="5259629" y="1828800"/>
            <a:ext cx="504749" cy="822960"/>
          </a:xfrm>
          <a:prstGeom prst="rect">
            <a:avLst/>
          </a:prstGeom>
          <a:solidFill>
            <a:srgbClr val="162441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05933" y="1956816"/>
            <a:ext cx="285293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구조 이해</a:t>
            </a:r>
            <a:endParaRPr lang="en-US" sz="1120" dirty="0"/>
          </a:p>
        </p:txBody>
      </p:sp>
      <p:sp>
        <p:nvSpPr>
          <p:cNvPr id="16" name="Shape 14"/>
          <p:cNvSpPr/>
          <p:nvPr/>
        </p:nvSpPr>
        <p:spPr>
          <a:xfrm>
            <a:off x="5874106" y="1828800"/>
            <a:ext cx="504749" cy="822960"/>
          </a:xfrm>
          <a:prstGeom prst="rect">
            <a:avLst/>
          </a:prstGeom>
          <a:solidFill>
            <a:srgbClr val="162441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20410" y="1956816"/>
            <a:ext cx="285293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워크플로</a:t>
            </a:r>
            <a:endParaRPr lang="en-US" sz="1120" dirty="0"/>
          </a:p>
        </p:txBody>
      </p:sp>
      <p:sp>
        <p:nvSpPr>
          <p:cNvPr id="18" name="Shape 16"/>
          <p:cNvSpPr/>
          <p:nvPr/>
        </p:nvSpPr>
        <p:spPr>
          <a:xfrm>
            <a:off x="6488582" y="1828800"/>
            <a:ext cx="504749" cy="822960"/>
          </a:xfrm>
          <a:prstGeom prst="rect">
            <a:avLst/>
          </a:prstGeom>
          <a:solidFill>
            <a:srgbClr val="162441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34886" y="1956816"/>
            <a:ext cx="285293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파라미터 제어</a:t>
            </a:r>
            <a:endParaRPr lang="en-US" sz="1120" dirty="0"/>
          </a:p>
        </p:txBody>
      </p:sp>
      <p:sp>
        <p:nvSpPr>
          <p:cNvPr id="20" name="Shape 18"/>
          <p:cNvSpPr/>
          <p:nvPr/>
        </p:nvSpPr>
        <p:spPr>
          <a:xfrm>
            <a:off x="7103059" y="1828800"/>
            <a:ext cx="504749" cy="822960"/>
          </a:xfrm>
          <a:prstGeom prst="rect">
            <a:avLst/>
          </a:prstGeom>
          <a:solidFill>
            <a:srgbClr val="162441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49363" y="1956816"/>
            <a:ext cx="285293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홍보 영상</a:t>
            </a:r>
            <a:endParaRPr lang="en-US" sz="1120" dirty="0"/>
          </a:p>
        </p:txBody>
      </p:sp>
      <p:sp>
        <p:nvSpPr>
          <p:cNvPr id="22" name="Shape 20"/>
          <p:cNvSpPr/>
          <p:nvPr/>
        </p:nvSpPr>
        <p:spPr>
          <a:xfrm>
            <a:off x="4645152" y="2761488"/>
            <a:ext cx="504749" cy="822960"/>
          </a:xfrm>
          <a:prstGeom prst="rect">
            <a:avLst/>
          </a:prstGeom>
          <a:solidFill>
            <a:srgbClr val="162441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91456" y="2889504"/>
            <a:ext cx="285293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점검 및 정리</a:t>
            </a:r>
            <a:endParaRPr lang="en-US" sz="1120" dirty="0"/>
          </a:p>
        </p:txBody>
      </p:sp>
      <p:sp>
        <p:nvSpPr>
          <p:cNvPr id="24" name="Shape 22"/>
          <p:cNvSpPr/>
          <p:nvPr/>
        </p:nvSpPr>
        <p:spPr>
          <a:xfrm>
            <a:off x="475488" y="4096512"/>
            <a:ext cx="7296912" cy="512064"/>
          </a:xfrm>
          <a:prstGeom prst="rect">
            <a:avLst/>
          </a:prstGeom>
          <a:solidFill>
            <a:srgbClr val="111B33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3504" y="4206240"/>
            <a:ext cx="7680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FF6B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강사 포인트</a:t>
            </a:r>
            <a:endParaRPr lang="en-US" sz="930" dirty="0"/>
          </a:p>
        </p:txBody>
      </p:sp>
      <p:sp>
        <p:nvSpPr>
          <p:cNvPr id="26" name="Text 24"/>
          <p:cNvSpPr/>
          <p:nvPr/>
        </p:nvSpPr>
        <p:spPr>
          <a:xfrm>
            <a:off x="1499616" y="4169664"/>
            <a:ext cx="5998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AAB7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하루 분량이 길기 때문에 전체 지도를 먼저 보여주고, 학습자가 현재 어디를 배우는지 계속 추적할 수 있게 한다.</a:t>
            </a:r>
            <a:endParaRPr lang="en-US" sz="960" dirty="0"/>
          </a:p>
        </p:txBody>
      </p:sp>
      <p:sp>
        <p:nvSpPr>
          <p:cNvPr id="27" name="Text 25"/>
          <p:cNvSpPr/>
          <p:nvPr/>
        </p:nvSpPr>
        <p:spPr>
          <a:xfrm rot="5400000">
            <a:off x="8119872" y="109728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1D9E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Morning Lab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201168"/>
            <a:ext cx="8631936" cy="4736592"/>
          </a:xfrm>
          <a:prstGeom prst="rect">
            <a:avLst/>
          </a:prstGeom>
          <a:solidFill>
            <a:srgbClr val="10182D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73568" y="201168"/>
            <a:ext cx="914400" cy="4736592"/>
          </a:xfrm>
          <a:prstGeom prst="rect">
            <a:avLst/>
          </a:prstGeom>
          <a:solidFill>
            <a:srgbClr val="132347"/>
          </a:solidFill>
          <a:ln w="6350">
            <a:solidFill>
              <a:srgbClr val="2A36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310896"/>
            <a:ext cx="768096" cy="182880"/>
          </a:xfrm>
          <a:prstGeom prst="rect">
            <a:avLst/>
          </a:prstGeom>
          <a:solidFill>
            <a:srgbClr val="17304D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1D9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오전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8156448" y="310896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AB7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/ 40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603504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41D9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MORNING BLOCK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822960"/>
            <a:ext cx="7040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오전 세션 운영 방식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4498848" y="1426464"/>
            <a:ext cx="3794760" cy="2505456"/>
          </a:xfrm>
          <a:prstGeom prst="rect">
            <a:avLst/>
          </a:prstGeom>
          <a:solidFill>
            <a:srgbClr val="121A30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" y="1426464"/>
            <a:ext cx="3273552" cy="2505456"/>
          </a:xfrm>
          <a:prstGeom prst="rect">
            <a:avLst/>
          </a:prstGeom>
          <a:solidFill>
            <a:srgbClr val="121A30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1591056"/>
            <a:ext cx="3456432" cy="21762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342900" indent="-342900">
              <a:buSzPct val="100000"/>
              <a:buChar char="•"/>
            </a:pPr>
            <a:r>
              <a:rPr lang="en-US" sz="131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강의와 실습의 비율은 약 4:6으로 구성한다.</a:t>
            </a:r>
            <a:endParaRPr lang="en-US" sz="1310" dirty="0"/>
          </a:p>
          <a:p>
            <a:pPr marL="342900" indent="-342900">
              <a:buSzPct val="100000"/>
              <a:buChar char="•"/>
            </a:pPr>
            <a:r>
              <a:rPr lang="en-US" sz="131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개념 설명 직후 바로 노드 화면에서 확인하도록 짧은 실습 단위를 반복한다.</a:t>
            </a:r>
            <a:endParaRPr lang="en-US" sz="1310" dirty="0"/>
          </a:p>
          <a:p>
            <a:pPr marL="342900" indent="-342900">
              <a:buSzPct val="100000"/>
              <a:buChar char="•"/>
            </a:pPr>
            <a:r>
              <a:rPr lang="en-US" sz="131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설치 문제와 모델 로딩 문제를 초반에 집중 해결해 오후 제작 시간을 확보한다.</a:t>
            </a:r>
            <a:endParaRPr lang="en-US" sz="1310" dirty="0"/>
          </a:p>
        </p:txBody>
      </p:sp>
      <p:sp>
        <p:nvSpPr>
          <p:cNvPr id="11" name="Text 9"/>
          <p:cNvSpPr/>
          <p:nvPr/>
        </p:nvSpPr>
        <p:spPr>
          <a:xfrm>
            <a:off x="621792" y="1572768"/>
            <a:ext cx="2962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AB7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운영 루프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21792" y="1828800"/>
            <a:ext cx="658368" cy="822960"/>
          </a:xfrm>
          <a:prstGeom prst="rect">
            <a:avLst/>
          </a:prstGeom>
          <a:solidFill>
            <a:srgbClr val="162441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8096" y="1956816"/>
            <a:ext cx="438912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개념 설명</a:t>
            </a:r>
            <a:endParaRPr lang="en-US" sz="1120" dirty="0"/>
          </a:p>
        </p:txBody>
      </p:sp>
      <p:sp>
        <p:nvSpPr>
          <p:cNvPr id="14" name="Shape 12"/>
          <p:cNvSpPr/>
          <p:nvPr/>
        </p:nvSpPr>
        <p:spPr>
          <a:xfrm>
            <a:off x="1389888" y="1828800"/>
            <a:ext cx="658368" cy="822960"/>
          </a:xfrm>
          <a:prstGeom prst="rect">
            <a:avLst/>
          </a:prstGeom>
          <a:solidFill>
            <a:srgbClr val="162441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536192" y="1956816"/>
            <a:ext cx="438912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노드 확인</a:t>
            </a:r>
            <a:endParaRPr lang="en-US" sz="1120" dirty="0"/>
          </a:p>
        </p:txBody>
      </p:sp>
      <p:sp>
        <p:nvSpPr>
          <p:cNvPr id="16" name="Shape 14"/>
          <p:cNvSpPr/>
          <p:nvPr/>
        </p:nvSpPr>
        <p:spPr>
          <a:xfrm>
            <a:off x="2157984" y="1828800"/>
            <a:ext cx="658368" cy="822960"/>
          </a:xfrm>
          <a:prstGeom prst="rect">
            <a:avLst/>
          </a:prstGeom>
          <a:solidFill>
            <a:srgbClr val="162441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04288" y="1956816"/>
            <a:ext cx="438912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파라미터 변경</a:t>
            </a:r>
            <a:endParaRPr lang="en-US" sz="1120" dirty="0"/>
          </a:p>
        </p:txBody>
      </p:sp>
      <p:sp>
        <p:nvSpPr>
          <p:cNvPr id="18" name="Shape 16"/>
          <p:cNvSpPr/>
          <p:nvPr/>
        </p:nvSpPr>
        <p:spPr>
          <a:xfrm>
            <a:off x="2926080" y="1828800"/>
            <a:ext cx="658368" cy="822960"/>
          </a:xfrm>
          <a:prstGeom prst="rect">
            <a:avLst/>
          </a:prstGeom>
          <a:solidFill>
            <a:srgbClr val="162441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72384" y="1956816"/>
            <a:ext cx="438912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결과 비교</a:t>
            </a:r>
            <a:endParaRPr lang="en-US" sz="1120" dirty="0"/>
          </a:p>
        </p:txBody>
      </p:sp>
      <p:sp>
        <p:nvSpPr>
          <p:cNvPr id="20" name="Shape 18"/>
          <p:cNvSpPr/>
          <p:nvPr/>
        </p:nvSpPr>
        <p:spPr>
          <a:xfrm>
            <a:off x="475488" y="4096512"/>
            <a:ext cx="7296912" cy="512064"/>
          </a:xfrm>
          <a:prstGeom prst="rect">
            <a:avLst/>
          </a:prstGeom>
          <a:solidFill>
            <a:srgbClr val="111B33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3504" y="4206240"/>
            <a:ext cx="7680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FF6B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강사 포인트</a:t>
            </a:r>
            <a:endParaRPr lang="en-US" sz="930" dirty="0"/>
          </a:p>
        </p:txBody>
      </p:sp>
      <p:sp>
        <p:nvSpPr>
          <p:cNvPr id="22" name="Text 20"/>
          <p:cNvSpPr/>
          <p:nvPr/>
        </p:nvSpPr>
        <p:spPr>
          <a:xfrm>
            <a:off x="1499616" y="4169664"/>
            <a:ext cx="5998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AAB7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실습 중심 운영 방식을 미리 안내하면 학습자들이 수동적으로 듣기보다 바로 손을 움직이게 된다.</a:t>
            </a:r>
            <a:endParaRPr lang="en-US" sz="960" dirty="0"/>
          </a:p>
        </p:txBody>
      </p:sp>
      <p:sp>
        <p:nvSpPr>
          <p:cNvPr id="23" name="Text 21"/>
          <p:cNvSpPr/>
          <p:nvPr/>
        </p:nvSpPr>
        <p:spPr>
          <a:xfrm rot="5400000">
            <a:off x="8119872" y="109728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C72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Morning Lab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201168"/>
            <a:ext cx="8631936" cy="4736592"/>
          </a:xfrm>
          <a:prstGeom prst="rect">
            <a:avLst/>
          </a:prstGeom>
          <a:solidFill>
            <a:srgbClr val="10182D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73568" y="201168"/>
            <a:ext cx="914400" cy="4736592"/>
          </a:xfrm>
          <a:prstGeom prst="rect">
            <a:avLst/>
          </a:prstGeom>
          <a:solidFill>
            <a:srgbClr val="0F1E38"/>
          </a:solidFill>
          <a:ln w="6350">
            <a:solidFill>
              <a:srgbClr val="2A36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310896"/>
            <a:ext cx="768096" cy="182880"/>
          </a:xfrm>
          <a:prstGeom prst="rect">
            <a:avLst/>
          </a:prstGeom>
          <a:solidFill>
            <a:srgbClr val="17304D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1D9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오전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8156448" y="310896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AB7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/ 40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603504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41D9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COMFYUI CONTEXT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822960"/>
            <a:ext cx="7040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왜 ComfyUI인가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475488" y="1426464"/>
            <a:ext cx="3794760" cy="2505456"/>
          </a:xfrm>
          <a:prstGeom prst="rect">
            <a:avLst/>
          </a:prstGeom>
          <a:solidFill>
            <a:srgbClr val="121A30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98848" y="1426464"/>
            <a:ext cx="3273552" cy="2505456"/>
          </a:xfrm>
          <a:prstGeom prst="rect">
            <a:avLst/>
          </a:prstGeom>
          <a:solidFill>
            <a:srgbClr val="121A30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591056"/>
            <a:ext cx="3456432" cy="21762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342900" indent="-342900">
              <a:buSzPct val="100000"/>
              <a:buChar char="•"/>
            </a:pPr>
            <a:r>
              <a:rPr lang="en-US" sz="131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노드 기반 인터페이스는 생성 파이프라인을 시각적으로 이해하고 재조합하기 쉽다.</a:t>
            </a:r>
            <a:endParaRPr lang="en-US" sz="1310" dirty="0"/>
          </a:p>
          <a:p>
            <a:pPr marL="342900" indent="-342900">
              <a:buSzPct val="100000"/>
              <a:buChar char="•"/>
            </a:pPr>
            <a:r>
              <a:rPr lang="en-US" sz="131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텍스트, 이미지, 비디오 입력을 한 워크플로 안에서 연결하기에 유리하다.</a:t>
            </a:r>
            <a:endParaRPr lang="en-US" sz="1310" dirty="0"/>
          </a:p>
          <a:p>
            <a:pPr marL="342900" indent="-342900">
              <a:buSzPct val="100000"/>
              <a:buChar char="•"/>
            </a:pPr>
            <a:r>
              <a:rPr lang="en-US" sz="131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실험 결과를 노드 단위로 기록하고 재현할 수 있어 교육용과 실무용 모두 적합하다.</a:t>
            </a:r>
            <a:endParaRPr lang="en-US" sz="1310" dirty="0"/>
          </a:p>
        </p:txBody>
      </p:sp>
      <p:sp>
        <p:nvSpPr>
          <p:cNvPr id="11" name="Text 9"/>
          <p:cNvSpPr/>
          <p:nvPr/>
        </p:nvSpPr>
        <p:spPr>
          <a:xfrm>
            <a:off x="4645152" y="1572768"/>
            <a:ext cx="2962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AB7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도구 관점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645152" y="1828800"/>
            <a:ext cx="1417320" cy="1901952"/>
          </a:xfrm>
          <a:prstGeom prst="rect">
            <a:avLst/>
          </a:prstGeom>
          <a:solidFill>
            <a:srgbClr val="162441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1920240"/>
            <a:ext cx="1197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1D9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채팅형 도구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773168" y="2176272"/>
            <a:ext cx="1197864" cy="14813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342900" indent="-342900">
              <a:buSzPct val="100000"/>
              <a:buChar char="•"/>
            </a:pPr>
            <a:r>
              <a:rPr lang="en-US" sz="1120" dirty="0">
                <a:solidFill>
                  <a:srgbClr val="AAB7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빠른 시작</a:t>
            </a:r>
            <a:endParaRPr lang="en-US" sz="1120" dirty="0"/>
          </a:p>
          <a:p>
            <a:pPr marL="342900" indent="-342900">
              <a:buSzPct val="100000"/>
              <a:buChar char="•"/>
            </a:pPr>
            <a:r>
              <a:rPr lang="en-US" sz="1120" dirty="0">
                <a:solidFill>
                  <a:srgbClr val="AAB7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흐름이 숨겨짐</a:t>
            </a:r>
            <a:endParaRPr lang="en-US" sz="1120" dirty="0"/>
          </a:p>
          <a:p>
            <a:pPr marL="342900" indent="-342900">
              <a:buSzPct val="100000"/>
              <a:buChar char="•"/>
            </a:pPr>
            <a:r>
              <a:rPr lang="en-US" sz="1120" dirty="0">
                <a:solidFill>
                  <a:srgbClr val="AAB7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재현성이 약함</a:t>
            </a:r>
            <a:endParaRPr lang="en-US" sz="1120" dirty="0"/>
          </a:p>
        </p:txBody>
      </p:sp>
      <p:sp>
        <p:nvSpPr>
          <p:cNvPr id="15" name="Shape 13"/>
          <p:cNvSpPr/>
          <p:nvPr/>
        </p:nvSpPr>
        <p:spPr>
          <a:xfrm>
            <a:off x="6190488" y="1828800"/>
            <a:ext cx="1417320" cy="1901952"/>
          </a:xfrm>
          <a:prstGeom prst="rect">
            <a:avLst/>
          </a:prstGeom>
          <a:solidFill>
            <a:srgbClr val="162441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0216" y="1920240"/>
            <a:ext cx="1197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1D9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ComfyUI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18504" y="2176272"/>
            <a:ext cx="1197864" cy="14813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342900" indent="-342900">
              <a:buSzPct val="100000"/>
              <a:buChar char="•"/>
            </a:pPr>
            <a:r>
              <a:rPr lang="en-US" sz="1120" dirty="0">
                <a:solidFill>
                  <a:srgbClr val="AAB7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흐름이 보임</a:t>
            </a:r>
            <a:endParaRPr lang="en-US" sz="1120" dirty="0"/>
          </a:p>
          <a:p>
            <a:pPr marL="342900" indent="-342900">
              <a:buSzPct val="100000"/>
              <a:buChar char="•"/>
            </a:pPr>
            <a:r>
              <a:rPr lang="en-US" sz="1120" dirty="0">
                <a:solidFill>
                  <a:srgbClr val="AAB7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재사용 가능</a:t>
            </a:r>
            <a:endParaRPr lang="en-US" sz="1120" dirty="0"/>
          </a:p>
          <a:p>
            <a:pPr marL="342900" indent="-342900">
              <a:buSzPct val="100000"/>
              <a:buChar char="•"/>
            </a:pPr>
            <a:r>
              <a:rPr lang="en-US" sz="1120" dirty="0">
                <a:solidFill>
                  <a:srgbClr val="AAB7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세밀한 제어 가능</a:t>
            </a:r>
            <a:endParaRPr lang="en-US" sz="1120" dirty="0"/>
          </a:p>
        </p:txBody>
      </p:sp>
      <p:sp>
        <p:nvSpPr>
          <p:cNvPr id="18" name="Shape 16"/>
          <p:cNvSpPr/>
          <p:nvPr/>
        </p:nvSpPr>
        <p:spPr>
          <a:xfrm>
            <a:off x="475488" y="4096512"/>
            <a:ext cx="7296912" cy="512064"/>
          </a:xfrm>
          <a:prstGeom prst="rect">
            <a:avLst/>
          </a:prstGeom>
          <a:solidFill>
            <a:srgbClr val="111B33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3504" y="4206240"/>
            <a:ext cx="7680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FF6B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강사 포인트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1499616" y="4169664"/>
            <a:ext cx="5998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AAB7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ComfyUI를 단순한 UI 툴이 아니라 실험과 운영을 위한 파이프라인 에디터로 설명한다.</a:t>
            </a:r>
            <a:endParaRPr lang="en-US" sz="960" dirty="0"/>
          </a:p>
        </p:txBody>
      </p:sp>
      <p:sp>
        <p:nvSpPr>
          <p:cNvPr id="21" name="Text 19"/>
          <p:cNvSpPr/>
          <p:nvPr/>
        </p:nvSpPr>
        <p:spPr>
          <a:xfrm rot="5400000">
            <a:off x="8119872" y="109728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1D9E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Morning Lab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201168"/>
            <a:ext cx="8631936" cy="4736592"/>
          </a:xfrm>
          <a:prstGeom prst="rect">
            <a:avLst/>
          </a:prstGeom>
          <a:solidFill>
            <a:srgbClr val="10182D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73568" y="201168"/>
            <a:ext cx="914400" cy="4736592"/>
          </a:xfrm>
          <a:prstGeom prst="rect">
            <a:avLst/>
          </a:prstGeom>
          <a:solidFill>
            <a:srgbClr val="132347"/>
          </a:solidFill>
          <a:ln w="6350">
            <a:solidFill>
              <a:srgbClr val="2A36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310896"/>
            <a:ext cx="768096" cy="182880"/>
          </a:xfrm>
          <a:prstGeom prst="rect">
            <a:avLst/>
          </a:prstGeom>
          <a:solidFill>
            <a:srgbClr val="17304D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1D9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오전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8156448" y="310896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AB7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/ 40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603504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41D9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 BASICS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822960"/>
            <a:ext cx="7040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노드 기반 영상 생성 파이프라인 개념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4498848" y="1426464"/>
            <a:ext cx="3794760" cy="2505456"/>
          </a:xfrm>
          <a:prstGeom prst="rect">
            <a:avLst/>
          </a:prstGeom>
          <a:solidFill>
            <a:srgbClr val="121A30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" y="1426464"/>
            <a:ext cx="3273552" cy="2505456"/>
          </a:xfrm>
          <a:prstGeom prst="rect">
            <a:avLst/>
          </a:prstGeom>
          <a:solidFill>
            <a:srgbClr val="121A30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1591056"/>
            <a:ext cx="3456432" cy="21762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342900" indent="-342900">
              <a:buSzPct val="100000"/>
              <a:buChar char="•"/>
            </a:pPr>
            <a:r>
              <a:rPr lang="en-US" sz="131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입력 노드, 모델 노드, 조건 노드, 샘플링 노드, 출력 노드로 흐름을 구분한다.</a:t>
            </a:r>
            <a:endParaRPr lang="en-US" sz="1310" dirty="0"/>
          </a:p>
          <a:p>
            <a:pPr marL="342900" indent="-342900">
              <a:buSzPct val="100000"/>
              <a:buChar char="•"/>
            </a:pPr>
            <a:r>
              <a:rPr lang="en-US" sz="131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문제가 발생하면 어느 구간에서 품질 저하가 생겼는지 분리해서 디버깅할 수 있다.</a:t>
            </a:r>
            <a:endParaRPr lang="en-US" sz="1310" dirty="0"/>
          </a:p>
          <a:p>
            <a:pPr marL="342900" indent="-342900">
              <a:buSzPct val="100000"/>
              <a:buChar char="•"/>
            </a:pPr>
            <a:r>
              <a:rPr lang="en-US" sz="131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텍스트 프롬프트와 참조 이미지가 조건 노드에서 합쳐진 뒤 샘플러로 전달된다.</a:t>
            </a:r>
            <a:endParaRPr lang="en-US" sz="1310" dirty="0"/>
          </a:p>
        </p:txBody>
      </p:sp>
      <p:sp>
        <p:nvSpPr>
          <p:cNvPr id="11" name="Text 9"/>
          <p:cNvSpPr/>
          <p:nvPr/>
        </p:nvSpPr>
        <p:spPr>
          <a:xfrm>
            <a:off x="621792" y="1572768"/>
            <a:ext cx="2962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AB7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기본 구조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21792" y="1828800"/>
            <a:ext cx="504749" cy="822960"/>
          </a:xfrm>
          <a:prstGeom prst="rect">
            <a:avLst/>
          </a:prstGeom>
          <a:solidFill>
            <a:srgbClr val="162441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8096" y="1956816"/>
            <a:ext cx="285293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Prompt/Input</a:t>
            </a:r>
            <a:endParaRPr lang="en-US" sz="1120" dirty="0"/>
          </a:p>
        </p:txBody>
      </p:sp>
      <p:sp>
        <p:nvSpPr>
          <p:cNvPr id="14" name="Shape 12"/>
          <p:cNvSpPr/>
          <p:nvPr/>
        </p:nvSpPr>
        <p:spPr>
          <a:xfrm>
            <a:off x="1236269" y="1828800"/>
            <a:ext cx="504749" cy="822960"/>
          </a:xfrm>
          <a:prstGeom prst="rect">
            <a:avLst/>
          </a:prstGeom>
          <a:solidFill>
            <a:srgbClr val="162441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82573" y="1956816"/>
            <a:ext cx="285293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Conditioning</a:t>
            </a:r>
            <a:endParaRPr lang="en-US" sz="1120" dirty="0"/>
          </a:p>
        </p:txBody>
      </p:sp>
      <p:sp>
        <p:nvSpPr>
          <p:cNvPr id="16" name="Shape 14"/>
          <p:cNvSpPr/>
          <p:nvPr/>
        </p:nvSpPr>
        <p:spPr>
          <a:xfrm>
            <a:off x="1850746" y="1828800"/>
            <a:ext cx="504749" cy="822960"/>
          </a:xfrm>
          <a:prstGeom prst="rect">
            <a:avLst/>
          </a:prstGeom>
          <a:solidFill>
            <a:srgbClr val="162441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997050" y="1956816"/>
            <a:ext cx="285293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LTX Model</a:t>
            </a:r>
            <a:endParaRPr lang="en-US" sz="1120" dirty="0"/>
          </a:p>
        </p:txBody>
      </p:sp>
      <p:sp>
        <p:nvSpPr>
          <p:cNvPr id="18" name="Shape 16"/>
          <p:cNvSpPr/>
          <p:nvPr/>
        </p:nvSpPr>
        <p:spPr>
          <a:xfrm>
            <a:off x="2465222" y="1828800"/>
            <a:ext cx="504749" cy="822960"/>
          </a:xfrm>
          <a:prstGeom prst="rect">
            <a:avLst/>
          </a:prstGeom>
          <a:solidFill>
            <a:srgbClr val="162441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11526" y="1956816"/>
            <a:ext cx="285293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Sampler</a:t>
            </a:r>
            <a:endParaRPr lang="en-US" sz="1120" dirty="0"/>
          </a:p>
        </p:txBody>
      </p:sp>
      <p:sp>
        <p:nvSpPr>
          <p:cNvPr id="20" name="Shape 18"/>
          <p:cNvSpPr/>
          <p:nvPr/>
        </p:nvSpPr>
        <p:spPr>
          <a:xfrm>
            <a:off x="3079699" y="1828800"/>
            <a:ext cx="504749" cy="822960"/>
          </a:xfrm>
          <a:prstGeom prst="rect">
            <a:avLst/>
          </a:prstGeom>
          <a:solidFill>
            <a:srgbClr val="162441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26003" y="1956816"/>
            <a:ext cx="285293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Decode</a:t>
            </a:r>
            <a:endParaRPr lang="en-US" sz="1120" dirty="0"/>
          </a:p>
        </p:txBody>
      </p:sp>
      <p:sp>
        <p:nvSpPr>
          <p:cNvPr id="22" name="Shape 20"/>
          <p:cNvSpPr/>
          <p:nvPr/>
        </p:nvSpPr>
        <p:spPr>
          <a:xfrm>
            <a:off x="621792" y="2761488"/>
            <a:ext cx="504749" cy="822960"/>
          </a:xfrm>
          <a:prstGeom prst="rect">
            <a:avLst/>
          </a:prstGeom>
          <a:solidFill>
            <a:srgbClr val="162441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8096" y="2889504"/>
            <a:ext cx="285293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Export</a:t>
            </a:r>
            <a:endParaRPr lang="en-US" sz="1120" dirty="0"/>
          </a:p>
        </p:txBody>
      </p:sp>
      <p:sp>
        <p:nvSpPr>
          <p:cNvPr id="24" name="Shape 22"/>
          <p:cNvSpPr/>
          <p:nvPr/>
        </p:nvSpPr>
        <p:spPr>
          <a:xfrm>
            <a:off x="475488" y="4096512"/>
            <a:ext cx="7296912" cy="512064"/>
          </a:xfrm>
          <a:prstGeom prst="rect">
            <a:avLst/>
          </a:prstGeom>
          <a:solidFill>
            <a:srgbClr val="111B33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3504" y="4206240"/>
            <a:ext cx="7680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FF6B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강사 포인트</a:t>
            </a:r>
            <a:endParaRPr lang="en-US" sz="930" dirty="0"/>
          </a:p>
        </p:txBody>
      </p:sp>
      <p:sp>
        <p:nvSpPr>
          <p:cNvPr id="26" name="Text 24"/>
          <p:cNvSpPr/>
          <p:nvPr/>
        </p:nvSpPr>
        <p:spPr>
          <a:xfrm>
            <a:off x="1499616" y="4169664"/>
            <a:ext cx="5998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AAB7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학습자가 노드 이름보다 역할을 먼저 이해하도록 유도한다. 기능을 역할로 묶어 설명하면 이후 응용이 쉬워진다.</a:t>
            </a:r>
            <a:endParaRPr lang="en-US" sz="960" dirty="0"/>
          </a:p>
        </p:txBody>
      </p:sp>
      <p:sp>
        <p:nvSpPr>
          <p:cNvPr id="27" name="Text 25"/>
          <p:cNvSpPr/>
          <p:nvPr/>
        </p:nvSpPr>
        <p:spPr>
          <a:xfrm rot="5400000">
            <a:off x="8119872" y="109728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C72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Morning Lab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201168"/>
            <a:ext cx="8631936" cy="4736592"/>
          </a:xfrm>
          <a:prstGeom prst="rect">
            <a:avLst/>
          </a:prstGeom>
          <a:solidFill>
            <a:srgbClr val="10182D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73568" y="201168"/>
            <a:ext cx="914400" cy="4736592"/>
          </a:xfrm>
          <a:prstGeom prst="rect">
            <a:avLst/>
          </a:prstGeom>
          <a:solidFill>
            <a:srgbClr val="0F1E38"/>
          </a:solidFill>
          <a:ln w="6350">
            <a:solidFill>
              <a:srgbClr val="2A36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310896"/>
            <a:ext cx="768096" cy="182880"/>
          </a:xfrm>
          <a:prstGeom prst="rect">
            <a:avLst/>
          </a:prstGeom>
          <a:solidFill>
            <a:srgbClr val="17304D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1D9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오전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8156448" y="310896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AB7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 / 40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603504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41D9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SETUP CHECK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822960"/>
            <a:ext cx="7040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실습 환경 체크리스트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475488" y="1426464"/>
            <a:ext cx="3794760" cy="2505456"/>
          </a:xfrm>
          <a:prstGeom prst="rect">
            <a:avLst/>
          </a:prstGeom>
          <a:solidFill>
            <a:srgbClr val="121A30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98848" y="1426464"/>
            <a:ext cx="3273552" cy="2505456"/>
          </a:xfrm>
          <a:prstGeom prst="rect">
            <a:avLst/>
          </a:prstGeom>
          <a:solidFill>
            <a:srgbClr val="121A30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591056"/>
            <a:ext cx="3456432" cy="21762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342900" indent="-342900">
              <a:buSzPct val="100000"/>
              <a:buChar char="•"/>
            </a:pPr>
            <a:r>
              <a:rPr lang="en-US" sz="131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GPU VRAM, Python 환경, ComfyUI 실행 상태, 모델 저장 경로를 먼저 점검한다.</a:t>
            </a:r>
            <a:endParaRPr lang="en-US" sz="1310" dirty="0"/>
          </a:p>
          <a:p>
            <a:pPr marL="342900" indent="-342900">
              <a:buSzPct val="100000"/>
              <a:buChar char="•"/>
            </a:pPr>
            <a:r>
              <a:rPr lang="en-US" sz="131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워크플로 파일과 샘플 입력 이미지, 테스트 프롬프트를 사전에 내려받아 둔다.</a:t>
            </a:r>
            <a:endParaRPr lang="en-US" sz="1310" dirty="0"/>
          </a:p>
          <a:p>
            <a:pPr marL="342900" indent="-342900">
              <a:buSzPct val="100000"/>
              <a:buChar char="•"/>
            </a:pPr>
            <a:r>
              <a:rPr lang="en-US" sz="131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실습 시작 전에 출력 폴더와 캐시 위치를 확인해 저장 실패를 방지한다.</a:t>
            </a:r>
            <a:endParaRPr lang="en-US" sz="1310" dirty="0"/>
          </a:p>
        </p:txBody>
      </p:sp>
      <p:sp>
        <p:nvSpPr>
          <p:cNvPr id="11" name="Text 9"/>
          <p:cNvSpPr/>
          <p:nvPr/>
        </p:nvSpPr>
        <p:spPr>
          <a:xfrm>
            <a:off x="4645152" y="1572768"/>
            <a:ext cx="2962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AB7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필수 확인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645152" y="1828800"/>
            <a:ext cx="1426464" cy="560832"/>
          </a:xfrm>
          <a:prstGeom prst="rect">
            <a:avLst/>
          </a:prstGeom>
          <a:solidFill>
            <a:srgbClr val="162441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54880" y="1965960"/>
            <a:ext cx="146304" cy="146304"/>
          </a:xfrm>
          <a:prstGeom prst="ellipse">
            <a:avLst/>
          </a:prstGeom>
          <a:solidFill>
            <a:srgbClr val="35D49A"/>
          </a:solidFill>
          <a:ln w="6350">
            <a:solidFill>
              <a:srgbClr val="35D4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91456" y="1956816"/>
            <a:ext cx="1207008" cy="396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GPU/VRAM</a:t>
            </a:r>
            <a:endParaRPr lang="en-US" sz="1120" dirty="0"/>
          </a:p>
        </p:txBody>
      </p:sp>
      <p:sp>
        <p:nvSpPr>
          <p:cNvPr id="15" name="Shape 13"/>
          <p:cNvSpPr/>
          <p:nvPr/>
        </p:nvSpPr>
        <p:spPr>
          <a:xfrm>
            <a:off x="6181344" y="1828800"/>
            <a:ext cx="1426464" cy="560832"/>
          </a:xfrm>
          <a:prstGeom prst="rect">
            <a:avLst/>
          </a:prstGeom>
          <a:solidFill>
            <a:srgbClr val="162441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91072" y="1965960"/>
            <a:ext cx="146304" cy="146304"/>
          </a:xfrm>
          <a:prstGeom prst="ellipse">
            <a:avLst/>
          </a:prstGeom>
          <a:solidFill>
            <a:srgbClr val="35D49A"/>
          </a:solidFill>
          <a:ln w="6350">
            <a:solidFill>
              <a:srgbClr val="35D4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27648" y="1956816"/>
            <a:ext cx="1207008" cy="396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ComfyUI 실행</a:t>
            </a:r>
            <a:endParaRPr lang="en-US" sz="1120" dirty="0"/>
          </a:p>
        </p:txBody>
      </p:sp>
      <p:sp>
        <p:nvSpPr>
          <p:cNvPr id="18" name="Shape 16"/>
          <p:cNvSpPr/>
          <p:nvPr/>
        </p:nvSpPr>
        <p:spPr>
          <a:xfrm>
            <a:off x="4645152" y="2499360"/>
            <a:ext cx="1426464" cy="560832"/>
          </a:xfrm>
          <a:prstGeom prst="rect">
            <a:avLst/>
          </a:prstGeom>
          <a:solidFill>
            <a:srgbClr val="162441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54880" y="2636520"/>
            <a:ext cx="146304" cy="146304"/>
          </a:xfrm>
          <a:prstGeom prst="ellipse">
            <a:avLst/>
          </a:prstGeom>
          <a:solidFill>
            <a:srgbClr val="35D49A"/>
          </a:solidFill>
          <a:ln w="6350">
            <a:solidFill>
              <a:srgbClr val="35D49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91456" y="2627376"/>
            <a:ext cx="1207008" cy="396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모델 경로</a:t>
            </a:r>
            <a:endParaRPr lang="en-US" sz="1120" dirty="0"/>
          </a:p>
        </p:txBody>
      </p:sp>
      <p:sp>
        <p:nvSpPr>
          <p:cNvPr id="21" name="Shape 19"/>
          <p:cNvSpPr/>
          <p:nvPr/>
        </p:nvSpPr>
        <p:spPr>
          <a:xfrm>
            <a:off x="6181344" y="2499360"/>
            <a:ext cx="1426464" cy="560832"/>
          </a:xfrm>
          <a:prstGeom prst="rect">
            <a:avLst/>
          </a:prstGeom>
          <a:solidFill>
            <a:srgbClr val="162441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91072" y="2636520"/>
            <a:ext cx="146304" cy="146304"/>
          </a:xfrm>
          <a:prstGeom prst="ellipse">
            <a:avLst/>
          </a:prstGeom>
          <a:solidFill>
            <a:srgbClr val="35D49A"/>
          </a:solidFill>
          <a:ln w="6350">
            <a:solidFill>
              <a:srgbClr val="35D49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27648" y="2627376"/>
            <a:ext cx="1207008" cy="396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워크플로 파일</a:t>
            </a:r>
            <a:endParaRPr lang="en-US" sz="1120" dirty="0"/>
          </a:p>
        </p:txBody>
      </p:sp>
      <p:sp>
        <p:nvSpPr>
          <p:cNvPr id="24" name="Shape 22"/>
          <p:cNvSpPr/>
          <p:nvPr/>
        </p:nvSpPr>
        <p:spPr>
          <a:xfrm>
            <a:off x="4645152" y="3169920"/>
            <a:ext cx="1426464" cy="560832"/>
          </a:xfrm>
          <a:prstGeom prst="rect">
            <a:avLst/>
          </a:prstGeom>
          <a:solidFill>
            <a:srgbClr val="162441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54880" y="3307080"/>
            <a:ext cx="146304" cy="146304"/>
          </a:xfrm>
          <a:prstGeom prst="ellipse">
            <a:avLst/>
          </a:prstGeom>
          <a:solidFill>
            <a:srgbClr val="35D49A"/>
          </a:solidFill>
          <a:ln w="6350">
            <a:solidFill>
              <a:srgbClr val="35D49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91456" y="3297936"/>
            <a:ext cx="1207008" cy="396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출력 폴더</a:t>
            </a:r>
            <a:endParaRPr lang="en-US" sz="1120" dirty="0"/>
          </a:p>
        </p:txBody>
      </p:sp>
      <p:sp>
        <p:nvSpPr>
          <p:cNvPr id="27" name="Shape 25"/>
          <p:cNvSpPr/>
          <p:nvPr/>
        </p:nvSpPr>
        <p:spPr>
          <a:xfrm>
            <a:off x="6181344" y="3169920"/>
            <a:ext cx="1426464" cy="560832"/>
          </a:xfrm>
          <a:prstGeom prst="rect">
            <a:avLst/>
          </a:prstGeom>
          <a:solidFill>
            <a:srgbClr val="162441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291072" y="3307080"/>
            <a:ext cx="146304" cy="146304"/>
          </a:xfrm>
          <a:prstGeom prst="ellipse">
            <a:avLst/>
          </a:prstGeom>
          <a:solidFill>
            <a:srgbClr val="35D49A"/>
          </a:solidFill>
          <a:ln w="6350">
            <a:solidFill>
              <a:srgbClr val="35D49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27648" y="3297936"/>
            <a:ext cx="1207008" cy="396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샘플 이미지</a:t>
            </a:r>
            <a:endParaRPr lang="en-US" sz="1120" dirty="0"/>
          </a:p>
        </p:txBody>
      </p:sp>
      <p:sp>
        <p:nvSpPr>
          <p:cNvPr id="30" name="Shape 28"/>
          <p:cNvSpPr/>
          <p:nvPr/>
        </p:nvSpPr>
        <p:spPr>
          <a:xfrm>
            <a:off x="475488" y="4096512"/>
            <a:ext cx="7296912" cy="512064"/>
          </a:xfrm>
          <a:prstGeom prst="rect">
            <a:avLst/>
          </a:prstGeom>
          <a:solidFill>
            <a:srgbClr val="111B33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3504" y="4206240"/>
            <a:ext cx="7680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FF6B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강사 포인트</a:t>
            </a:r>
            <a:endParaRPr lang="en-US" sz="930" dirty="0"/>
          </a:p>
        </p:txBody>
      </p:sp>
      <p:sp>
        <p:nvSpPr>
          <p:cNvPr id="32" name="Text 30"/>
          <p:cNvSpPr/>
          <p:nvPr/>
        </p:nvSpPr>
        <p:spPr>
          <a:xfrm>
            <a:off x="1499616" y="4169664"/>
            <a:ext cx="5998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AAB7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설치가 끝났는지보다 실제 생성이 가능한 상태인지 묻는 식으로 체크리스트를 운영한다.</a:t>
            </a:r>
            <a:endParaRPr lang="en-US" sz="960" dirty="0"/>
          </a:p>
        </p:txBody>
      </p:sp>
      <p:sp>
        <p:nvSpPr>
          <p:cNvPr id="33" name="Text 31"/>
          <p:cNvSpPr/>
          <p:nvPr/>
        </p:nvSpPr>
        <p:spPr>
          <a:xfrm rot="5400000">
            <a:off x="8119872" y="109728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1D9E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Morning Lab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201168"/>
            <a:ext cx="8631936" cy="4736592"/>
          </a:xfrm>
          <a:prstGeom prst="rect">
            <a:avLst/>
          </a:prstGeom>
          <a:solidFill>
            <a:srgbClr val="10182D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73568" y="201168"/>
            <a:ext cx="914400" cy="4736592"/>
          </a:xfrm>
          <a:prstGeom prst="rect">
            <a:avLst/>
          </a:prstGeom>
          <a:solidFill>
            <a:srgbClr val="132347"/>
          </a:solidFill>
          <a:ln w="6350">
            <a:solidFill>
              <a:srgbClr val="2A36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310896"/>
            <a:ext cx="768096" cy="182880"/>
          </a:xfrm>
          <a:prstGeom prst="rect">
            <a:avLst/>
          </a:prstGeom>
          <a:solidFill>
            <a:srgbClr val="17304D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1D9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오전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8156448" y="310896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AB7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 / 40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603504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41D9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STACK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822960"/>
            <a:ext cx="7040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ComfyUI + LTX-Video 실행 스택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4498848" y="1426464"/>
            <a:ext cx="3794760" cy="2505456"/>
          </a:xfrm>
          <a:prstGeom prst="rect">
            <a:avLst/>
          </a:prstGeom>
          <a:solidFill>
            <a:srgbClr val="121A30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" y="1426464"/>
            <a:ext cx="3273552" cy="2505456"/>
          </a:xfrm>
          <a:prstGeom prst="rect">
            <a:avLst/>
          </a:prstGeom>
          <a:solidFill>
            <a:srgbClr val="121A30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1591056"/>
            <a:ext cx="3456432" cy="21762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342900" indent="-342900">
              <a:buSzPct val="100000"/>
              <a:buChar char="•"/>
            </a:pPr>
            <a:r>
              <a:rPr lang="en-US" sz="131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프론트엔드는 ComfyUI 캔버스, 핵심 연산은 GPU 기반 모델 추론으로 분리된다.</a:t>
            </a:r>
            <a:endParaRPr lang="en-US" sz="1310" dirty="0"/>
          </a:p>
          <a:p>
            <a:pPr marL="342900" indent="-342900">
              <a:buSzPct val="100000"/>
              <a:buChar char="•"/>
            </a:pPr>
            <a:r>
              <a:rPr lang="en-US" sz="131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모델 파일과 VAE, 샘플러 설정은 결과 품질과 속도에 직접적인 영향을 준다.</a:t>
            </a:r>
            <a:endParaRPr lang="en-US" sz="1310" dirty="0"/>
          </a:p>
          <a:p>
            <a:pPr marL="342900" indent="-342900">
              <a:buSzPct val="100000"/>
              <a:buChar char="•"/>
            </a:pPr>
            <a:r>
              <a:rPr lang="en-US" sz="131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출력은 영상 프레임 또는 인코딩 파일 형태로 저장되며 후처리 단계와 연결될 수 있다.</a:t>
            </a:r>
            <a:endParaRPr lang="en-US" sz="1310" dirty="0"/>
          </a:p>
        </p:txBody>
      </p:sp>
      <p:sp>
        <p:nvSpPr>
          <p:cNvPr id="11" name="Text 9"/>
          <p:cNvSpPr/>
          <p:nvPr/>
        </p:nvSpPr>
        <p:spPr>
          <a:xfrm>
            <a:off x="621792" y="1572768"/>
            <a:ext cx="2962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AB7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기술 스택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21792" y="1828800"/>
            <a:ext cx="504749" cy="822960"/>
          </a:xfrm>
          <a:prstGeom prst="rect">
            <a:avLst/>
          </a:prstGeom>
          <a:solidFill>
            <a:srgbClr val="162441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8096" y="1956816"/>
            <a:ext cx="285293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UI Layer</a:t>
            </a:r>
            <a:endParaRPr lang="en-US" sz="1120" dirty="0"/>
          </a:p>
        </p:txBody>
      </p:sp>
      <p:sp>
        <p:nvSpPr>
          <p:cNvPr id="14" name="Shape 12"/>
          <p:cNvSpPr/>
          <p:nvPr/>
        </p:nvSpPr>
        <p:spPr>
          <a:xfrm>
            <a:off x="1236269" y="1828800"/>
            <a:ext cx="504749" cy="822960"/>
          </a:xfrm>
          <a:prstGeom prst="rect">
            <a:avLst/>
          </a:prstGeom>
          <a:solidFill>
            <a:srgbClr val="162441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82573" y="1956816"/>
            <a:ext cx="285293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Workflow Graph</a:t>
            </a:r>
            <a:endParaRPr lang="en-US" sz="1120" dirty="0"/>
          </a:p>
        </p:txBody>
      </p:sp>
      <p:sp>
        <p:nvSpPr>
          <p:cNvPr id="16" name="Shape 14"/>
          <p:cNvSpPr/>
          <p:nvPr/>
        </p:nvSpPr>
        <p:spPr>
          <a:xfrm>
            <a:off x="1850746" y="1828800"/>
            <a:ext cx="504749" cy="822960"/>
          </a:xfrm>
          <a:prstGeom prst="rect">
            <a:avLst/>
          </a:prstGeom>
          <a:solidFill>
            <a:srgbClr val="162441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997050" y="1956816"/>
            <a:ext cx="285293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Weights</a:t>
            </a:r>
            <a:endParaRPr lang="en-US" sz="1120" dirty="0"/>
          </a:p>
        </p:txBody>
      </p:sp>
      <p:sp>
        <p:nvSpPr>
          <p:cNvPr id="18" name="Shape 16"/>
          <p:cNvSpPr/>
          <p:nvPr/>
        </p:nvSpPr>
        <p:spPr>
          <a:xfrm>
            <a:off x="2465222" y="1828800"/>
            <a:ext cx="504749" cy="822960"/>
          </a:xfrm>
          <a:prstGeom prst="rect">
            <a:avLst/>
          </a:prstGeom>
          <a:solidFill>
            <a:srgbClr val="162441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11526" y="1956816"/>
            <a:ext cx="285293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GPU Inference</a:t>
            </a:r>
            <a:endParaRPr lang="en-US" sz="1120" dirty="0"/>
          </a:p>
        </p:txBody>
      </p:sp>
      <p:sp>
        <p:nvSpPr>
          <p:cNvPr id="20" name="Shape 18"/>
          <p:cNvSpPr/>
          <p:nvPr/>
        </p:nvSpPr>
        <p:spPr>
          <a:xfrm>
            <a:off x="3079699" y="1828800"/>
            <a:ext cx="504749" cy="822960"/>
          </a:xfrm>
          <a:prstGeom prst="rect">
            <a:avLst/>
          </a:prstGeom>
          <a:solidFill>
            <a:srgbClr val="162441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26003" y="1956816"/>
            <a:ext cx="285293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Video Output</a:t>
            </a:r>
            <a:endParaRPr lang="en-US" sz="1120" dirty="0"/>
          </a:p>
        </p:txBody>
      </p:sp>
      <p:sp>
        <p:nvSpPr>
          <p:cNvPr id="22" name="Shape 20"/>
          <p:cNvSpPr/>
          <p:nvPr/>
        </p:nvSpPr>
        <p:spPr>
          <a:xfrm>
            <a:off x="475488" y="4096512"/>
            <a:ext cx="7296912" cy="512064"/>
          </a:xfrm>
          <a:prstGeom prst="rect">
            <a:avLst/>
          </a:prstGeom>
          <a:solidFill>
            <a:srgbClr val="111B33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3504" y="4206240"/>
            <a:ext cx="7680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FF6B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강사 포인트</a:t>
            </a:r>
            <a:endParaRPr lang="en-US" sz="930" dirty="0"/>
          </a:p>
        </p:txBody>
      </p:sp>
      <p:sp>
        <p:nvSpPr>
          <p:cNvPr id="24" name="Text 22"/>
          <p:cNvSpPr/>
          <p:nvPr/>
        </p:nvSpPr>
        <p:spPr>
          <a:xfrm>
            <a:off x="1499616" y="4169664"/>
            <a:ext cx="5998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AAB7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학습자들이 ‘무슨 파일이 어디에 필요한지’를 혼동하지 않도록 계층 구조로 설명한다.</a:t>
            </a:r>
            <a:endParaRPr lang="en-US" sz="960" dirty="0"/>
          </a:p>
        </p:txBody>
      </p:sp>
      <p:sp>
        <p:nvSpPr>
          <p:cNvPr id="25" name="Text 23"/>
          <p:cNvSpPr/>
          <p:nvPr/>
        </p:nvSpPr>
        <p:spPr>
          <a:xfrm rot="5400000">
            <a:off x="8119872" y="109728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C72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Morning Lab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201168"/>
            <a:ext cx="8631936" cy="4736592"/>
          </a:xfrm>
          <a:prstGeom prst="rect">
            <a:avLst/>
          </a:prstGeom>
          <a:solidFill>
            <a:srgbClr val="10182D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73568" y="201168"/>
            <a:ext cx="914400" cy="4736592"/>
          </a:xfrm>
          <a:prstGeom prst="rect">
            <a:avLst/>
          </a:prstGeom>
          <a:solidFill>
            <a:srgbClr val="0F1E38"/>
          </a:solidFill>
          <a:ln w="6350">
            <a:solidFill>
              <a:srgbClr val="2A36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310896"/>
            <a:ext cx="768096" cy="182880"/>
          </a:xfrm>
          <a:prstGeom prst="rect">
            <a:avLst/>
          </a:prstGeom>
          <a:solidFill>
            <a:srgbClr val="17304D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1D9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오전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8156448" y="310896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AB7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 / 40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603504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41D9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INSTALL ARCH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822960"/>
            <a:ext cx="7040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설치 후 반드시 이해해야 할 폴더 구조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475488" y="1426464"/>
            <a:ext cx="3794760" cy="2505456"/>
          </a:xfrm>
          <a:prstGeom prst="rect">
            <a:avLst/>
          </a:prstGeom>
          <a:solidFill>
            <a:srgbClr val="121A30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98848" y="1426464"/>
            <a:ext cx="3273552" cy="2505456"/>
          </a:xfrm>
          <a:prstGeom prst="rect">
            <a:avLst/>
          </a:prstGeom>
          <a:solidFill>
            <a:srgbClr val="121A30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591056"/>
            <a:ext cx="3456432" cy="21762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342900" indent="-342900">
              <a:buSzPct val="100000"/>
              <a:buChar char="•"/>
            </a:pPr>
            <a:r>
              <a:rPr lang="en-US" sz="131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models, custom_nodes, input, output 디렉터리는 실습 중 가장 자주 다루는 경로다.</a:t>
            </a:r>
            <a:endParaRPr lang="en-US" sz="1310" dirty="0"/>
          </a:p>
          <a:p>
            <a:pPr marL="342900" indent="-342900">
              <a:buSzPct val="100000"/>
              <a:buChar char="•"/>
            </a:pPr>
            <a:r>
              <a:rPr lang="en-US" sz="131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모델 위치가 잘못되면 로딩 실패, 출력 경로가 잘못되면 결과 저장 실패가 발생한다.</a:t>
            </a:r>
            <a:endParaRPr lang="en-US" sz="1310" dirty="0"/>
          </a:p>
          <a:p>
            <a:pPr marL="342900" indent="-342900">
              <a:buSzPct val="100000"/>
              <a:buChar char="•"/>
            </a:pPr>
            <a:r>
              <a:rPr lang="en-US" sz="131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팀 수업에서는 공통 자산과 개인 자산의 경계를 미리 정해 두는 것이 좋다.</a:t>
            </a:r>
            <a:endParaRPr lang="en-US" sz="1310" dirty="0"/>
          </a:p>
        </p:txBody>
      </p:sp>
      <p:sp>
        <p:nvSpPr>
          <p:cNvPr id="11" name="Text 9"/>
          <p:cNvSpPr/>
          <p:nvPr/>
        </p:nvSpPr>
        <p:spPr>
          <a:xfrm>
            <a:off x="4645152" y="1572768"/>
            <a:ext cx="2962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AB7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핵심 폴더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645152" y="1828800"/>
            <a:ext cx="504749" cy="822960"/>
          </a:xfrm>
          <a:prstGeom prst="rect">
            <a:avLst/>
          </a:prstGeom>
          <a:solidFill>
            <a:srgbClr val="162441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91456" y="1956816"/>
            <a:ext cx="285293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models/</a:t>
            </a:r>
            <a:endParaRPr lang="en-US" sz="1120" dirty="0"/>
          </a:p>
        </p:txBody>
      </p:sp>
      <p:sp>
        <p:nvSpPr>
          <p:cNvPr id="14" name="Shape 12"/>
          <p:cNvSpPr/>
          <p:nvPr/>
        </p:nvSpPr>
        <p:spPr>
          <a:xfrm>
            <a:off x="5259629" y="1828800"/>
            <a:ext cx="504749" cy="822960"/>
          </a:xfrm>
          <a:prstGeom prst="rect">
            <a:avLst/>
          </a:prstGeom>
          <a:solidFill>
            <a:srgbClr val="162441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05933" y="1956816"/>
            <a:ext cx="285293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custom_nodes/</a:t>
            </a:r>
            <a:endParaRPr lang="en-US" sz="1120" dirty="0"/>
          </a:p>
        </p:txBody>
      </p:sp>
      <p:sp>
        <p:nvSpPr>
          <p:cNvPr id="16" name="Shape 14"/>
          <p:cNvSpPr/>
          <p:nvPr/>
        </p:nvSpPr>
        <p:spPr>
          <a:xfrm>
            <a:off x="5874106" y="1828800"/>
            <a:ext cx="504749" cy="822960"/>
          </a:xfrm>
          <a:prstGeom prst="rect">
            <a:avLst/>
          </a:prstGeom>
          <a:solidFill>
            <a:srgbClr val="162441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20410" y="1956816"/>
            <a:ext cx="285293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input/</a:t>
            </a:r>
            <a:endParaRPr lang="en-US" sz="1120" dirty="0"/>
          </a:p>
        </p:txBody>
      </p:sp>
      <p:sp>
        <p:nvSpPr>
          <p:cNvPr id="18" name="Shape 16"/>
          <p:cNvSpPr/>
          <p:nvPr/>
        </p:nvSpPr>
        <p:spPr>
          <a:xfrm>
            <a:off x="6488582" y="1828800"/>
            <a:ext cx="504749" cy="822960"/>
          </a:xfrm>
          <a:prstGeom prst="rect">
            <a:avLst/>
          </a:prstGeom>
          <a:solidFill>
            <a:srgbClr val="162441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34886" y="1956816"/>
            <a:ext cx="285293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output/</a:t>
            </a:r>
            <a:endParaRPr lang="en-US" sz="1120" dirty="0"/>
          </a:p>
        </p:txBody>
      </p:sp>
      <p:sp>
        <p:nvSpPr>
          <p:cNvPr id="20" name="Shape 18"/>
          <p:cNvSpPr/>
          <p:nvPr/>
        </p:nvSpPr>
        <p:spPr>
          <a:xfrm>
            <a:off x="7103059" y="1828800"/>
            <a:ext cx="504749" cy="822960"/>
          </a:xfrm>
          <a:prstGeom prst="rect">
            <a:avLst/>
          </a:prstGeom>
          <a:solidFill>
            <a:srgbClr val="162441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49363" y="1956816"/>
            <a:ext cx="285293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temp/</a:t>
            </a:r>
            <a:endParaRPr lang="en-US" sz="1120" dirty="0"/>
          </a:p>
        </p:txBody>
      </p:sp>
      <p:sp>
        <p:nvSpPr>
          <p:cNvPr id="22" name="Shape 20"/>
          <p:cNvSpPr/>
          <p:nvPr/>
        </p:nvSpPr>
        <p:spPr>
          <a:xfrm>
            <a:off x="475488" y="4096512"/>
            <a:ext cx="7296912" cy="512064"/>
          </a:xfrm>
          <a:prstGeom prst="rect">
            <a:avLst/>
          </a:prstGeom>
          <a:solidFill>
            <a:srgbClr val="111B33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3504" y="4206240"/>
            <a:ext cx="7680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FF6B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강사 포인트</a:t>
            </a:r>
            <a:endParaRPr lang="en-US" sz="930" dirty="0"/>
          </a:p>
        </p:txBody>
      </p:sp>
      <p:sp>
        <p:nvSpPr>
          <p:cNvPr id="24" name="Text 22"/>
          <p:cNvSpPr/>
          <p:nvPr/>
        </p:nvSpPr>
        <p:spPr>
          <a:xfrm>
            <a:off x="1499616" y="4169664"/>
            <a:ext cx="5998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AAB7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이 슬라이드는 단순 안내가 아니라 향후 오류를 줄이기 위한 예방 교육이라는 점을 강조한다.</a:t>
            </a:r>
            <a:endParaRPr lang="en-US" sz="960" dirty="0"/>
          </a:p>
        </p:txBody>
      </p:sp>
      <p:sp>
        <p:nvSpPr>
          <p:cNvPr id="25" name="Text 23"/>
          <p:cNvSpPr/>
          <p:nvPr/>
        </p:nvSpPr>
        <p:spPr>
          <a:xfrm rot="5400000">
            <a:off x="8119872" y="109728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1D9E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Morning Lab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201168"/>
            <a:ext cx="8631936" cy="4736592"/>
          </a:xfrm>
          <a:prstGeom prst="rect">
            <a:avLst/>
          </a:prstGeom>
          <a:solidFill>
            <a:srgbClr val="10182D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73568" y="201168"/>
            <a:ext cx="914400" cy="4736592"/>
          </a:xfrm>
          <a:prstGeom prst="rect">
            <a:avLst/>
          </a:prstGeom>
          <a:solidFill>
            <a:srgbClr val="132347"/>
          </a:solidFill>
          <a:ln w="6350">
            <a:solidFill>
              <a:srgbClr val="2A36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310896"/>
            <a:ext cx="768096" cy="182880"/>
          </a:xfrm>
          <a:prstGeom prst="rect">
            <a:avLst/>
          </a:prstGeom>
          <a:solidFill>
            <a:srgbClr val="17304D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1D9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오전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8156448" y="310896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AB7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/ 40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603504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41D9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UI ANATOMY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822960"/>
            <a:ext cx="7040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ComfyUI 화면 읽는 법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4498848" y="1426464"/>
            <a:ext cx="3794760" cy="2505456"/>
          </a:xfrm>
          <a:prstGeom prst="rect">
            <a:avLst/>
          </a:prstGeom>
          <a:solidFill>
            <a:srgbClr val="121A30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" y="1426464"/>
            <a:ext cx="3273552" cy="2505456"/>
          </a:xfrm>
          <a:prstGeom prst="rect">
            <a:avLst/>
          </a:prstGeom>
          <a:solidFill>
            <a:srgbClr val="121A30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1591056"/>
            <a:ext cx="3456432" cy="21762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342900" indent="-342900">
              <a:buSzPct val="100000"/>
              <a:buChar char="•"/>
            </a:pPr>
            <a:r>
              <a:rPr lang="en-US" sz="131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왼쪽은 노드 배치 공간, 오른쪽 또는 하단은 결과 확인과 로그 추적 영역으로 본다.</a:t>
            </a:r>
            <a:endParaRPr lang="en-US" sz="1310" dirty="0"/>
          </a:p>
          <a:p>
            <a:pPr marL="342900" indent="-342900">
              <a:buSzPct val="100000"/>
              <a:buChar char="•"/>
            </a:pPr>
            <a:r>
              <a:rPr lang="en-US" sz="131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노드 연결선은 데이터 흐름, 노드 내부 값은 제어 파라미터를 의미한다.</a:t>
            </a:r>
            <a:endParaRPr lang="en-US" sz="1310" dirty="0"/>
          </a:p>
          <a:p>
            <a:pPr marL="342900" indent="-342900">
              <a:buSzPct val="100000"/>
              <a:buChar char="•"/>
            </a:pPr>
            <a:r>
              <a:rPr lang="en-US" sz="131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실습 중에는 생성 결과보다 연결 상태와 입력값의 일관성을 먼저 확인한다.</a:t>
            </a:r>
            <a:endParaRPr lang="en-US" sz="1310" dirty="0"/>
          </a:p>
        </p:txBody>
      </p:sp>
      <p:sp>
        <p:nvSpPr>
          <p:cNvPr id="11" name="Text 9"/>
          <p:cNvSpPr/>
          <p:nvPr/>
        </p:nvSpPr>
        <p:spPr>
          <a:xfrm>
            <a:off x="621792" y="1572768"/>
            <a:ext cx="2962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AB7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화면 영역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21792" y="1828800"/>
            <a:ext cx="1426464" cy="822960"/>
          </a:xfrm>
          <a:prstGeom prst="rect">
            <a:avLst/>
          </a:prstGeom>
          <a:solidFill>
            <a:srgbClr val="162441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8096" y="1956816"/>
            <a:ext cx="1207008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캔버스</a:t>
            </a:r>
            <a:endParaRPr lang="en-US" sz="1120" dirty="0"/>
          </a:p>
        </p:txBody>
      </p:sp>
      <p:sp>
        <p:nvSpPr>
          <p:cNvPr id="14" name="Shape 12"/>
          <p:cNvSpPr/>
          <p:nvPr/>
        </p:nvSpPr>
        <p:spPr>
          <a:xfrm>
            <a:off x="2157984" y="1828800"/>
            <a:ext cx="1426464" cy="822960"/>
          </a:xfrm>
          <a:prstGeom prst="rect">
            <a:avLst/>
          </a:prstGeom>
          <a:solidFill>
            <a:srgbClr val="162441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304288" y="1956816"/>
            <a:ext cx="1207008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노드 속성</a:t>
            </a:r>
            <a:endParaRPr lang="en-US" sz="1120" dirty="0"/>
          </a:p>
        </p:txBody>
      </p:sp>
      <p:sp>
        <p:nvSpPr>
          <p:cNvPr id="16" name="Shape 14"/>
          <p:cNvSpPr/>
          <p:nvPr/>
        </p:nvSpPr>
        <p:spPr>
          <a:xfrm>
            <a:off x="621792" y="2761488"/>
            <a:ext cx="1426464" cy="822960"/>
          </a:xfrm>
          <a:prstGeom prst="rect">
            <a:avLst/>
          </a:prstGeom>
          <a:solidFill>
            <a:srgbClr val="162441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8096" y="2889504"/>
            <a:ext cx="1207008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프리뷰</a:t>
            </a:r>
            <a:endParaRPr lang="en-US" sz="1120" dirty="0"/>
          </a:p>
        </p:txBody>
      </p:sp>
      <p:sp>
        <p:nvSpPr>
          <p:cNvPr id="18" name="Shape 16"/>
          <p:cNvSpPr/>
          <p:nvPr/>
        </p:nvSpPr>
        <p:spPr>
          <a:xfrm>
            <a:off x="2157984" y="2761488"/>
            <a:ext cx="1426464" cy="822960"/>
          </a:xfrm>
          <a:prstGeom prst="rect">
            <a:avLst/>
          </a:prstGeom>
          <a:solidFill>
            <a:srgbClr val="162441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304288" y="2889504"/>
            <a:ext cx="1207008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로그/큐</a:t>
            </a:r>
            <a:endParaRPr lang="en-US" sz="1120" dirty="0"/>
          </a:p>
        </p:txBody>
      </p:sp>
      <p:sp>
        <p:nvSpPr>
          <p:cNvPr id="20" name="Shape 18"/>
          <p:cNvSpPr/>
          <p:nvPr/>
        </p:nvSpPr>
        <p:spPr>
          <a:xfrm>
            <a:off x="475488" y="4096512"/>
            <a:ext cx="7296912" cy="512064"/>
          </a:xfrm>
          <a:prstGeom prst="rect">
            <a:avLst/>
          </a:prstGeom>
          <a:solidFill>
            <a:srgbClr val="111B33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3504" y="4206240"/>
            <a:ext cx="7680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FF6B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강사 포인트</a:t>
            </a:r>
            <a:endParaRPr lang="en-US" sz="930" dirty="0"/>
          </a:p>
        </p:txBody>
      </p:sp>
      <p:sp>
        <p:nvSpPr>
          <p:cNvPr id="22" name="Text 20"/>
          <p:cNvSpPr/>
          <p:nvPr/>
        </p:nvSpPr>
        <p:spPr>
          <a:xfrm>
            <a:off x="1499616" y="4169664"/>
            <a:ext cx="5998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AAB7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UI의 물리적 위치를 설명하는 데서 멈추지 말고, 어떤 순서로 화면을 읽어야 하는지까지 알려준다.</a:t>
            </a:r>
            <a:endParaRPr lang="en-US" sz="960" dirty="0"/>
          </a:p>
        </p:txBody>
      </p:sp>
      <p:sp>
        <p:nvSpPr>
          <p:cNvPr id="23" name="Text 21"/>
          <p:cNvSpPr/>
          <p:nvPr/>
        </p:nvSpPr>
        <p:spPr>
          <a:xfrm rot="5400000">
            <a:off x="8119872" y="109728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C72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Morning Lab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201168"/>
            <a:ext cx="8631936" cy="4736592"/>
          </a:xfrm>
          <a:prstGeom prst="rect">
            <a:avLst/>
          </a:prstGeom>
          <a:solidFill>
            <a:srgbClr val="10182D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73568" y="201168"/>
            <a:ext cx="914400" cy="4736592"/>
          </a:xfrm>
          <a:prstGeom prst="rect">
            <a:avLst/>
          </a:prstGeom>
          <a:solidFill>
            <a:srgbClr val="0F1E38"/>
          </a:solidFill>
          <a:ln w="6350">
            <a:solidFill>
              <a:srgbClr val="2A36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310896"/>
            <a:ext cx="768096" cy="182880"/>
          </a:xfrm>
          <a:prstGeom prst="rect">
            <a:avLst/>
          </a:prstGeom>
          <a:solidFill>
            <a:srgbClr val="17304D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1D9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오전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8156448" y="310896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AB7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 / 40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603504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41D9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822960"/>
            <a:ext cx="7040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LTX-Video 모델의 포지션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475488" y="1426464"/>
            <a:ext cx="3794760" cy="2505456"/>
          </a:xfrm>
          <a:prstGeom prst="rect">
            <a:avLst/>
          </a:prstGeom>
          <a:solidFill>
            <a:srgbClr val="121A30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98848" y="1426464"/>
            <a:ext cx="3273552" cy="2505456"/>
          </a:xfrm>
          <a:prstGeom prst="rect">
            <a:avLst/>
          </a:prstGeom>
          <a:solidFill>
            <a:srgbClr val="121A30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591056"/>
            <a:ext cx="3456432" cy="21762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342900" indent="-342900">
              <a:buSzPct val="100000"/>
              <a:buChar char="•"/>
            </a:pPr>
            <a:r>
              <a:rPr lang="en-US" sz="131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LTX-Video는 고속 추론과 실무 활용성을 노린 텍스트·이미지 기반 영상 생성 모델이다.</a:t>
            </a:r>
            <a:endParaRPr lang="en-US" sz="1310" dirty="0"/>
          </a:p>
          <a:p>
            <a:pPr marL="342900" indent="-342900">
              <a:buSzPct val="100000"/>
              <a:buChar char="•"/>
            </a:pPr>
            <a:r>
              <a:rPr lang="en-US" sz="131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짧은 실험 주기를 가능하게 해 프롬프트와 샘플링 조합을 반복 검증하기 좋다.</a:t>
            </a:r>
            <a:endParaRPr lang="en-US" sz="1310" dirty="0"/>
          </a:p>
          <a:p>
            <a:pPr marL="342900" indent="-342900">
              <a:buSzPct val="100000"/>
              <a:buChar char="•"/>
            </a:pPr>
            <a:r>
              <a:rPr lang="en-US" sz="131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교육 관점에서는 결과의 즉시성 덕분에 파라미터 변화와 출력 차이를 빠르게 학습시킬 수 있다.</a:t>
            </a:r>
            <a:endParaRPr lang="en-US" sz="1310" dirty="0"/>
          </a:p>
        </p:txBody>
      </p:sp>
      <p:sp>
        <p:nvSpPr>
          <p:cNvPr id="11" name="Text 9"/>
          <p:cNvSpPr/>
          <p:nvPr/>
        </p:nvSpPr>
        <p:spPr>
          <a:xfrm>
            <a:off x="4645152" y="1572768"/>
            <a:ext cx="2962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AB7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장점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645152" y="1828800"/>
            <a:ext cx="1426464" cy="822960"/>
          </a:xfrm>
          <a:prstGeom prst="rect">
            <a:avLst/>
          </a:prstGeom>
          <a:solidFill>
            <a:srgbClr val="162441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91456" y="1956816"/>
            <a:ext cx="1207008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속도</a:t>
            </a:r>
            <a:endParaRPr lang="en-US" sz="1120" dirty="0"/>
          </a:p>
        </p:txBody>
      </p:sp>
      <p:sp>
        <p:nvSpPr>
          <p:cNvPr id="14" name="Shape 12"/>
          <p:cNvSpPr/>
          <p:nvPr/>
        </p:nvSpPr>
        <p:spPr>
          <a:xfrm>
            <a:off x="6181344" y="1828800"/>
            <a:ext cx="1426464" cy="822960"/>
          </a:xfrm>
          <a:prstGeom prst="rect">
            <a:avLst/>
          </a:prstGeom>
          <a:solidFill>
            <a:srgbClr val="162441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27648" y="1956816"/>
            <a:ext cx="1207008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반복 실험</a:t>
            </a:r>
            <a:endParaRPr lang="en-US" sz="1120" dirty="0"/>
          </a:p>
        </p:txBody>
      </p:sp>
      <p:sp>
        <p:nvSpPr>
          <p:cNvPr id="16" name="Shape 14"/>
          <p:cNvSpPr/>
          <p:nvPr/>
        </p:nvSpPr>
        <p:spPr>
          <a:xfrm>
            <a:off x="4645152" y="2761488"/>
            <a:ext cx="1426464" cy="822960"/>
          </a:xfrm>
          <a:prstGeom prst="rect">
            <a:avLst/>
          </a:prstGeom>
          <a:solidFill>
            <a:srgbClr val="162441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91456" y="2889504"/>
            <a:ext cx="1207008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조건 제어</a:t>
            </a:r>
            <a:endParaRPr lang="en-US" sz="1120" dirty="0"/>
          </a:p>
        </p:txBody>
      </p:sp>
      <p:sp>
        <p:nvSpPr>
          <p:cNvPr id="18" name="Shape 16"/>
          <p:cNvSpPr/>
          <p:nvPr/>
        </p:nvSpPr>
        <p:spPr>
          <a:xfrm>
            <a:off x="6181344" y="2761488"/>
            <a:ext cx="1426464" cy="822960"/>
          </a:xfrm>
          <a:prstGeom prst="rect">
            <a:avLst/>
          </a:prstGeom>
          <a:solidFill>
            <a:srgbClr val="162441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27648" y="2889504"/>
            <a:ext cx="1207008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교육 적합성</a:t>
            </a:r>
            <a:endParaRPr lang="en-US" sz="1120" dirty="0"/>
          </a:p>
        </p:txBody>
      </p:sp>
      <p:sp>
        <p:nvSpPr>
          <p:cNvPr id="20" name="Shape 18"/>
          <p:cNvSpPr/>
          <p:nvPr/>
        </p:nvSpPr>
        <p:spPr>
          <a:xfrm>
            <a:off x="475488" y="4096512"/>
            <a:ext cx="7296912" cy="512064"/>
          </a:xfrm>
          <a:prstGeom prst="rect">
            <a:avLst/>
          </a:prstGeom>
          <a:solidFill>
            <a:srgbClr val="111B33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3504" y="4206240"/>
            <a:ext cx="7680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FF6B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강사 포인트</a:t>
            </a:r>
            <a:endParaRPr lang="en-US" sz="930" dirty="0"/>
          </a:p>
        </p:txBody>
      </p:sp>
      <p:sp>
        <p:nvSpPr>
          <p:cNvPr id="22" name="Text 20"/>
          <p:cNvSpPr/>
          <p:nvPr/>
        </p:nvSpPr>
        <p:spPr>
          <a:xfrm>
            <a:off x="1499616" y="4169664"/>
            <a:ext cx="5998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AAB7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모델의 수치 스펙만 소개하지 말고 왜 수업용으로 좋은지 연결해 설명한다.</a:t>
            </a:r>
            <a:endParaRPr lang="en-US" sz="960" dirty="0"/>
          </a:p>
        </p:txBody>
      </p:sp>
      <p:sp>
        <p:nvSpPr>
          <p:cNvPr id="23" name="Text 21"/>
          <p:cNvSpPr/>
          <p:nvPr/>
        </p:nvSpPr>
        <p:spPr>
          <a:xfrm rot="5400000">
            <a:off x="8119872" y="109728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1D9E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Morning Lab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201168"/>
            <a:ext cx="8631936" cy="4736592"/>
          </a:xfrm>
          <a:prstGeom prst="rect">
            <a:avLst/>
          </a:prstGeom>
          <a:solidFill>
            <a:srgbClr val="10182D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73568" y="201168"/>
            <a:ext cx="914400" cy="4736592"/>
          </a:xfrm>
          <a:prstGeom prst="rect">
            <a:avLst/>
          </a:prstGeom>
          <a:solidFill>
            <a:srgbClr val="132347"/>
          </a:solidFill>
          <a:ln w="6350">
            <a:solidFill>
              <a:srgbClr val="2A36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310896"/>
            <a:ext cx="768096" cy="182880"/>
          </a:xfrm>
          <a:prstGeom prst="rect">
            <a:avLst/>
          </a:prstGeom>
          <a:solidFill>
            <a:srgbClr val="17304D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1D9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오전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8156448" y="310896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AB7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 / 40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603504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41D9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822960"/>
            <a:ext cx="7040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DiT 아키텍처를 실무적으로 이해하기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4498848" y="1426464"/>
            <a:ext cx="3794760" cy="2505456"/>
          </a:xfrm>
          <a:prstGeom prst="rect">
            <a:avLst/>
          </a:prstGeom>
          <a:solidFill>
            <a:srgbClr val="121A30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" y="1426464"/>
            <a:ext cx="3273552" cy="2505456"/>
          </a:xfrm>
          <a:prstGeom prst="rect">
            <a:avLst/>
          </a:prstGeom>
          <a:solidFill>
            <a:srgbClr val="121A30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1591056"/>
            <a:ext cx="3456432" cy="21762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342900" indent="-342900">
              <a:buSzPct val="100000"/>
              <a:buChar char="•"/>
            </a:pPr>
            <a:r>
              <a:rPr lang="en-US" sz="131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DiT는 확산 모델의 노이즈 제거 과정을 Transformer 기반으로 처리하는 접근으로 이해하면 된다.</a:t>
            </a:r>
            <a:endParaRPr lang="en-US" sz="1310" dirty="0"/>
          </a:p>
          <a:p>
            <a:pPr marL="342900" indent="-342900">
              <a:buSzPct val="100000"/>
              <a:buChar char="•"/>
            </a:pPr>
            <a:r>
              <a:rPr lang="en-US" sz="131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핵심은 프레임 간 관계와 조건 정보를 더 유연하게 반영할 수 있다는 점이다.</a:t>
            </a:r>
            <a:endParaRPr lang="en-US" sz="1310" dirty="0"/>
          </a:p>
          <a:p>
            <a:pPr marL="342900" indent="-342900">
              <a:buSzPct val="100000"/>
              <a:buChar char="•"/>
            </a:pPr>
            <a:r>
              <a:rPr lang="en-US" sz="131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실습자는 수학보다 ‘조건 반영력’과 ‘시간축 일관성’ 관점에서 개념을 잡으면 충분하다.</a:t>
            </a:r>
            <a:endParaRPr lang="en-US" sz="1310" dirty="0"/>
          </a:p>
        </p:txBody>
      </p:sp>
      <p:sp>
        <p:nvSpPr>
          <p:cNvPr id="11" name="Text 9"/>
          <p:cNvSpPr/>
          <p:nvPr/>
        </p:nvSpPr>
        <p:spPr>
          <a:xfrm>
            <a:off x="621792" y="1572768"/>
            <a:ext cx="2962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AB7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DiT 개념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21792" y="1828800"/>
            <a:ext cx="504749" cy="822960"/>
          </a:xfrm>
          <a:prstGeom prst="rect">
            <a:avLst/>
          </a:prstGeom>
          <a:solidFill>
            <a:srgbClr val="162441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8096" y="1956816"/>
            <a:ext cx="285293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Noisy Frames</a:t>
            </a:r>
            <a:endParaRPr lang="en-US" sz="1120" dirty="0"/>
          </a:p>
        </p:txBody>
      </p:sp>
      <p:sp>
        <p:nvSpPr>
          <p:cNvPr id="14" name="Shape 12"/>
          <p:cNvSpPr/>
          <p:nvPr/>
        </p:nvSpPr>
        <p:spPr>
          <a:xfrm>
            <a:off x="1236269" y="1828800"/>
            <a:ext cx="504749" cy="822960"/>
          </a:xfrm>
          <a:prstGeom prst="rect">
            <a:avLst/>
          </a:prstGeom>
          <a:solidFill>
            <a:srgbClr val="162441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82573" y="1956816"/>
            <a:ext cx="285293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Tokenization</a:t>
            </a:r>
            <a:endParaRPr lang="en-US" sz="1120" dirty="0"/>
          </a:p>
        </p:txBody>
      </p:sp>
      <p:sp>
        <p:nvSpPr>
          <p:cNvPr id="16" name="Shape 14"/>
          <p:cNvSpPr/>
          <p:nvPr/>
        </p:nvSpPr>
        <p:spPr>
          <a:xfrm>
            <a:off x="1850746" y="1828800"/>
            <a:ext cx="504749" cy="822960"/>
          </a:xfrm>
          <a:prstGeom prst="rect">
            <a:avLst/>
          </a:prstGeom>
          <a:solidFill>
            <a:srgbClr val="162441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997050" y="1956816"/>
            <a:ext cx="285293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Transformer Blocks</a:t>
            </a:r>
            <a:endParaRPr lang="en-US" sz="1120" dirty="0"/>
          </a:p>
        </p:txBody>
      </p:sp>
      <p:sp>
        <p:nvSpPr>
          <p:cNvPr id="18" name="Shape 16"/>
          <p:cNvSpPr/>
          <p:nvPr/>
        </p:nvSpPr>
        <p:spPr>
          <a:xfrm>
            <a:off x="2465222" y="1828800"/>
            <a:ext cx="504749" cy="822960"/>
          </a:xfrm>
          <a:prstGeom prst="rect">
            <a:avLst/>
          </a:prstGeom>
          <a:solidFill>
            <a:srgbClr val="162441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11526" y="1956816"/>
            <a:ext cx="285293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Denoise</a:t>
            </a:r>
            <a:endParaRPr lang="en-US" sz="1120" dirty="0"/>
          </a:p>
        </p:txBody>
      </p:sp>
      <p:sp>
        <p:nvSpPr>
          <p:cNvPr id="20" name="Shape 18"/>
          <p:cNvSpPr/>
          <p:nvPr/>
        </p:nvSpPr>
        <p:spPr>
          <a:xfrm>
            <a:off x="3079699" y="1828800"/>
            <a:ext cx="504749" cy="822960"/>
          </a:xfrm>
          <a:prstGeom prst="rect">
            <a:avLst/>
          </a:prstGeom>
          <a:solidFill>
            <a:srgbClr val="162441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26003" y="1956816"/>
            <a:ext cx="285293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Video Frames</a:t>
            </a:r>
            <a:endParaRPr lang="en-US" sz="1120" dirty="0"/>
          </a:p>
        </p:txBody>
      </p:sp>
      <p:sp>
        <p:nvSpPr>
          <p:cNvPr id="22" name="Shape 20"/>
          <p:cNvSpPr/>
          <p:nvPr/>
        </p:nvSpPr>
        <p:spPr>
          <a:xfrm>
            <a:off x="475488" y="4096512"/>
            <a:ext cx="7296912" cy="512064"/>
          </a:xfrm>
          <a:prstGeom prst="rect">
            <a:avLst/>
          </a:prstGeom>
          <a:solidFill>
            <a:srgbClr val="111B33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3504" y="4206240"/>
            <a:ext cx="7680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FF6B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강사 포인트</a:t>
            </a:r>
            <a:endParaRPr lang="en-US" sz="930" dirty="0"/>
          </a:p>
        </p:txBody>
      </p:sp>
      <p:sp>
        <p:nvSpPr>
          <p:cNvPr id="24" name="Text 22"/>
          <p:cNvSpPr/>
          <p:nvPr/>
        </p:nvSpPr>
        <p:spPr>
          <a:xfrm>
            <a:off x="1499616" y="4169664"/>
            <a:ext cx="5998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AAB7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모델 내부를 지나치게 깊게 파지 않고, 현업 적용에 필요한 해석 수준으로 개념을 고정한다.</a:t>
            </a:r>
            <a:endParaRPr lang="en-US" sz="960" dirty="0"/>
          </a:p>
        </p:txBody>
      </p:sp>
      <p:sp>
        <p:nvSpPr>
          <p:cNvPr id="25" name="Text 23"/>
          <p:cNvSpPr/>
          <p:nvPr/>
        </p:nvSpPr>
        <p:spPr>
          <a:xfrm rot="5400000">
            <a:off x="8119872" y="109728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C72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Morning Lab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201168"/>
            <a:ext cx="8631936" cy="4736592"/>
          </a:xfrm>
          <a:prstGeom prst="rect">
            <a:avLst/>
          </a:prstGeom>
          <a:solidFill>
            <a:srgbClr val="10182D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73568" y="201168"/>
            <a:ext cx="914400" cy="4736592"/>
          </a:xfrm>
          <a:prstGeom prst="rect">
            <a:avLst/>
          </a:prstGeom>
          <a:solidFill>
            <a:srgbClr val="0F1E38"/>
          </a:solidFill>
          <a:ln w="6350">
            <a:solidFill>
              <a:srgbClr val="2A36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310896"/>
            <a:ext cx="768096" cy="182880"/>
          </a:xfrm>
          <a:prstGeom prst="rect">
            <a:avLst/>
          </a:prstGeom>
          <a:solidFill>
            <a:srgbClr val="17304D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1D9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오전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8156448" y="310896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AB7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 / 40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603504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41D9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CONSISTENCY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822960"/>
            <a:ext cx="7040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영상 품질의 핵심: 시간축 일관성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475488" y="1426464"/>
            <a:ext cx="3794760" cy="2505456"/>
          </a:xfrm>
          <a:prstGeom prst="rect">
            <a:avLst/>
          </a:prstGeom>
          <a:solidFill>
            <a:srgbClr val="121A30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98848" y="1426464"/>
            <a:ext cx="3273552" cy="2505456"/>
          </a:xfrm>
          <a:prstGeom prst="rect">
            <a:avLst/>
          </a:prstGeom>
          <a:solidFill>
            <a:srgbClr val="121A30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591056"/>
            <a:ext cx="3456432" cy="21762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342900" indent="-342900">
              <a:buSzPct val="100000"/>
              <a:buChar char="•"/>
            </a:pPr>
            <a:r>
              <a:rPr lang="en-US" sz="131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텍스트 프롬프트가 좋아도 프레임 간 일관성이 무너지면 실무 영상으로 쓰기 어렵다.</a:t>
            </a:r>
            <a:endParaRPr lang="en-US" sz="1310" dirty="0"/>
          </a:p>
          <a:p>
            <a:pPr marL="342900" indent="-342900">
              <a:buSzPct val="100000"/>
              <a:buChar char="•"/>
            </a:pPr>
            <a:r>
              <a:rPr lang="en-US" sz="131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캐릭터, 카메라, 조명, 배경 요소가 급격히 흔들리지 않도록 조건을 제어해야 한다.</a:t>
            </a:r>
            <a:endParaRPr lang="en-US" sz="1310" dirty="0"/>
          </a:p>
          <a:p>
            <a:pPr marL="342900" indent="-342900">
              <a:buSzPct val="100000"/>
              <a:buChar char="•"/>
            </a:pPr>
            <a:r>
              <a:rPr lang="en-US" sz="131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오후 실습의 CFG와 샘플러 조정은 결국 이 일관성을 확보하기 위한 수단이다.</a:t>
            </a:r>
            <a:endParaRPr lang="en-US" sz="1310" dirty="0"/>
          </a:p>
        </p:txBody>
      </p:sp>
      <p:sp>
        <p:nvSpPr>
          <p:cNvPr id="11" name="Text 9"/>
          <p:cNvSpPr/>
          <p:nvPr/>
        </p:nvSpPr>
        <p:spPr>
          <a:xfrm>
            <a:off x="4645152" y="1572768"/>
            <a:ext cx="2962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AB7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결과 비교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645152" y="1828800"/>
            <a:ext cx="1417320" cy="1901952"/>
          </a:xfrm>
          <a:prstGeom prst="rect">
            <a:avLst/>
          </a:prstGeom>
          <a:solidFill>
            <a:srgbClr val="162441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1920240"/>
            <a:ext cx="1197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1D9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불안정한 출력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773168" y="2176272"/>
            <a:ext cx="1197864" cy="14813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342900" indent="-342900">
              <a:buSzPct val="100000"/>
              <a:buChar char="•"/>
            </a:pPr>
            <a:r>
              <a:rPr lang="en-US" sz="1120" dirty="0">
                <a:solidFill>
                  <a:srgbClr val="AAB7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형태 흔들림</a:t>
            </a:r>
            <a:endParaRPr lang="en-US" sz="1120" dirty="0"/>
          </a:p>
          <a:p>
            <a:pPr marL="342900" indent="-342900">
              <a:buSzPct val="100000"/>
              <a:buChar char="•"/>
            </a:pPr>
            <a:r>
              <a:rPr lang="en-US" sz="1120" dirty="0">
                <a:solidFill>
                  <a:srgbClr val="AAB7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색상 점프</a:t>
            </a:r>
            <a:endParaRPr lang="en-US" sz="1120" dirty="0"/>
          </a:p>
          <a:p>
            <a:pPr marL="342900" indent="-342900">
              <a:buSzPct val="100000"/>
              <a:buChar char="•"/>
            </a:pPr>
            <a:r>
              <a:rPr lang="en-US" sz="1120" dirty="0">
                <a:solidFill>
                  <a:srgbClr val="AAB7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장면 붕괴</a:t>
            </a:r>
            <a:endParaRPr lang="en-US" sz="1120" dirty="0"/>
          </a:p>
        </p:txBody>
      </p:sp>
      <p:sp>
        <p:nvSpPr>
          <p:cNvPr id="15" name="Shape 13"/>
          <p:cNvSpPr/>
          <p:nvPr/>
        </p:nvSpPr>
        <p:spPr>
          <a:xfrm>
            <a:off x="6190488" y="1828800"/>
            <a:ext cx="1417320" cy="1901952"/>
          </a:xfrm>
          <a:prstGeom prst="rect">
            <a:avLst/>
          </a:prstGeom>
          <a:solidFill>
            <a:srgbClr val="162441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0216" y="1920240"/>
            <a:ext cx="1197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1D9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안정적 출력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18504" y="2176272"/>
            <a:ext cx="1197864" cy="14813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342900" indent="-342900">
              <a:buSzPct val="100000"/>
              <a:buChar char="•"/>
            </a:pPr>
            <a:r>
              <a:rPr lang="en-US" sz="1120" dirty="0">
                <a:solidFill>
                  <a:srgbClr val="AAB7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주체 유지</a:t>
            </a:r>
            <a:endParaRPr lang="en-US" sz="1120" dirty="0"/>
          </a:p>
          <a:p>
            <a:pPr marL="342900" indent="-342900">
              <a:buSzPct val="100000"/>
              <a:buChar char="•"/>
            </a:pPr>
            <a:r>
              <a:rPr lang="en-US" sz="1120" dirty="0">
                <a:solidFill>
                  <a:srgbClr val="AAB7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동작 연속성</a:t>
            </a:r>
            <a:endParaRPr lang="en-US" sz="1120" dirty="0"/>
          </a:p>
          <a:p>
            <a:pPr marL="342900" indent="-342900">
              <a:buSzPct val="100000"/>
              <a:buChar char="•"/>
            </a:pPr>
            <a:r>
              <a:rPr lang="en-US" sz="1120" dirty="0">
                <a:solidFill>
                  <a:srgbClr val="AAB7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브랜드 톤 유지</a:t>
            </a:r>
            <a:endParaRPr lang="en-US" sz="1120" dirty="0"/>
          </a:p>
        </p:txBody>
      </p:sp>
      <p:sp>
        <p:nvSpPr>
          <p:cNvPr id="18" name="Shape 16"/>
          <p:cNvSpPr/>
          <p:nvPr/>
        </p:nvSpPr>
        <p:spPr>
          <a:xfrm>
            <a:off x="475488" y="4096512"/>
            <a:ext cx="7296912" cy="512064"/>
          </a:xfrm>
          <a:prstGeom prst="rect">
            <a:avLst/>
          </a:prstGeom>
          <a:solidFill>
            <a:srgbClr val="111B33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3504" y="4206240"/>
            <a:ext cx="7680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FF6B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강사 포인트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1499616" y="4169664"/>
            <a:ext cx="5998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AAB7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좋은 영상의 기준을 ‘예쁜 화면’이 아니라 ‘쓸 수 있는 화면’으로 바꾸어 설명한다.</a:t>
            </a:r>
            <a:endParaRPr lang="en-US" sz="960" dirty="0"/>
          </a:p>
        </p:txBody>
      </p:sp>
      <p:sp>
        <p:nvSpPr>
          <p:cNvPr id="21" name="Text 19"/>
          <p:cNvSpPr/>
          <p:nvPr/>
        </p:nvSpPr>
        <p:spPr>
          <a:xfrm rot="5400000">
            <a:off x="8119872" y="109728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1D9E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Morning Lab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201168"/>
            <a:ext cx="8631936" cy="4736592"/>
          </a:xfrm>
          <a:prstGeom prst="rect">
            <a:avLst/>
          </a:prstGeom>
          <a:solidFill>
            <a:srgbClr val="10182D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73568" y="201168"/>
            <a:ext cx="914400" cy="4736592"/>
          </a:xfrm>
          <a:prstGeom prst="rect">
            <a:avLst/>
          </a:prstGeom>
          <a:solidFill>
            <a:srgbClr val="132347"/>
          </a:solidFill>
          <a:ln w="6350">
            <a:solidFill>
              <a:srgbClr val="2A36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310896"/>
            <a:ext cx="768096" cy="182880"/>
          </a:xfrm>
          <a:prstGeom prst="rect">
            <a:avLst/>
          </a:prstGeom>
          <a:solidFill>
            <a:srgbClr val="17304D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1D9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오전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8156448" y="310896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AB7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 / 40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603504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41D9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WORKFLOW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822960"/>
            <a:ext cx="7040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오전 핵심 워크플로 한 장 요약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4498848" y="1426464"/>
            <a:ext cx="3794760" cy="2505456"/>
          </a:xfrm>
          <a:prstGeom prst="rect">
            <a:avLst/>
          </a:prstGeom>
          <a:solidFill>
            <a:srgbClr val="121A30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" y="1426464"/>
            <a:ext cx="3273552" cy="2505456"/>
          </a:xfrm>
          <a:prstGeom prst="rect">
            <a:avLst/>
          </a:prstGeom>
          <a:solidFill>
            <a:srgbClr val="121A30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1591056"/>
            <a:ext cx="3456432" cy="21762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342900" indent="-342900">
              <a:buSzPct val="100000"/>
              <a:buChar char="•"/>
            </a:pPr>
            <a:r>
              <a:rPr lang="en-US" sz="131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입력 준비, 조건 구성, 모델 로딩, 샘플링, 디코딩, 저장의 여섯 단계로 단순화한다.</a:t>
            </a:r>
            <a:endParaRPr lang="en-US" sz="1310" dirty="0"/>
          </a:p>
          <a:p>
            <a:pPr marL="342900" indent="-342900">
              <a:buSzPct val="100000"/>
              <a:buChar char="•"/>
            </a:pPr>
            <a:r>
              <a:rPr lang="en-US" sz="131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학습자는 노드를 외우기보다 이 여섯 단계 중 어디를 수정하는지 파악해야 한다.</a:t>
            </a:r>
            <a:endParaRPr lang="en-US" sz="1310" dirty="0"/>
          </a:p>
          <a:p>
            <a:pPr marL="342900" indent="-342900">
              <a:buSzPct val="100000"/>
              <a:buChar char="•"/>
            </a:pPr>
            <a:r>
              <a:rPr lang="en-US" sz="131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이 구조를 기준으로 새로운 워크플로도 해석할 수 있다.</a:t>
            </a:r>
            <a:endParaRPr lang="en-US" sz="1310" dirty="0"/>
          </a:p>
        </p:txBody>
      </p:sp>
      <p:sp>
        <p:nvSpPr>
          <p:cNvPr id="11" name="Text 9"/>
          <p:cNvSpPr/>
          <p:nvPr/>
        </p:nvSpPr>
        <p:spPr>
          <a:xfrm>
            <a:off x="621792" y="1572768"/>
            <a:ext cx="2962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AB7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6단계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21792" y="1828800"/>
            <a:ext cx="504749" cy="822960"/>
          </a:xfrm>
          <a:prstGeom prst="rect">
            <a:avLst/>
          </a:prstGeom>
          <a:solidFill>
            <a:srgbClr val="162441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8096" y="1956816"/>
            <a:ext cx="285293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</a:t>
            </a:r>
            <a:endParaRPr lang="en-US" sz="1120" dirty="0"/>
          </a:p>
        </p:txBody>
      </p:sp>
      <p:sp>
        <p:nvSpPr>
          <p:cNvPr id="14" name="Shape 12"/>
          <p:cNvSpPr/>
          <p:nvPr/>
        </p:nvSpPr>
        <p:spPr>
          <a:xfrm>
            <a:off x="1236269" y="1828800"/>
            <a:ext cx="504749" cy="822960"/>
          </a:xfrm>
          <a:prstGeom prst="rect">
            <a:avLst/>
          </a:prstGeom>
          <a:solidFill>
            <a:srgbClr val="162441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82573" y="1956816"/>
            <a:ext cx="285293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</a:t>
            </a:r>
            <a:endParaRPr lang="en-US" sz="1120" dirty="0"/>
          </a:p>
        </p:txBody>
      </p:sp>
      <p:sp>
        <p:nvSpPr>
          <p:cNvPr id="16" name="Shape 14"/>
          <p:cNvSpPr/>
          <p:nvPr/>
        </p:nvSpPr>
        <p:spPr>
          <a:xfrm>
            <a:off x="1850746" y="1828800"/>
            <a:ext cx="504749" cy="822960"/>
          </a:xfrm>
          <a:prstGeom prst="rect">
            <a:avLst/>
          </a:prstGeom>
          <a:solidFill>
            <a:srgbClr val="162441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997050" y="1956816"/>
            <a:ext cx="285293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</a:t>
            </a:r>
            <a:endParaRPr lang="en-US" sz="1120" dirty="0"/>
          </a:p>
        </p:txBody>
      </p:sp>
      <p:sp>
        <p:nvSpPr>
          <p:cNvPr id="18" name="Shape 16"/>
          <p:cNvSpPr/>
          <p:nvPr/>
        </p:nvSpPr>
        <p:spPr>
          <a:xfrm>
            <a:off x="2465222" y="1828800"/>
            <a:ext cx="504749" cy="822960"/>
          </a:xfrm>
          <a:prstGeom prst="rect">
            <a:avLst/>
          </a:prstGeom>
          <a:solidFill>
            <a:srgbClr val="162441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11526" y="1956816"/>
            <a:ext cx="285293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Sample</a:t>
            </a:r>
            <a:endParaRPr lang="en-US" sz="1120" dirty="0"/>
          </a:p>
        </p:txBody>
      </p:sp>
      <p:sp>
        <p:nvSpPr>
          <p:cNvPr id="20" name="Shape 18"/>
          <p:cNvSpPr/>
          <p:nvPr/>
        </p:nvSpPr>
        <p:spPr>
          <a:xfrm>
            <a:off x="3079699" y="1828800"/>
            <a:ext cx="504749" cy="822960"/>
          </a:xfrm>
          <a:prstGeom prst="rect">
            <a:avLst/>
          </a:prstGeom>
          <a:solidFill>
            <a:srgbClr val="162441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26003" y="1956816"/>
            <a:ext cx="285293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Decode</a:t>
            </a:r>
            <a:endParaRPr lang="en-US" sz="1120" dirty="0"/>
          </a:p>
        </p:txBody>
      </p:sp>
      <p:sp>
        <p:nvSpPr>
          <p:cNvPr id="22" name="Shape 20"/>
          <p:cNvSpPr/>
          <p:nvPr/>
        </p:nvSpPr>
        <p:spPr>
          <a:xfrm>
            <a:off x="621792" y="2761488"/>
            <a:ext cx="504749" cy="822960"/>
          </a:xfrm>
          <a:prstGeom prst="rect">
            <a:avLst/>
          </a:prstGeom>
          <a:solidFill>
            <a:srgbClr val="162441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8096" y="2889504"/>
            <a:ext cx="285293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Save</a:t>
            </a:r>
            <a:endParaRPr lang="en-US" sz="1120" dirty="0"/>
          </a:p>
        </p:txBody>
      </p:sp>
      <p:sp>
        <p:nvSpPr>
          <p:cNvPr id="24" name="Shape 22"/>
          <p:cNvSpPr/>
          <p:nvPr/>
        </p:nvSpPr>
        <p:spPr>
          <a:xfrm>
            <a:off x="475488" y="4096512"/>
            <a:ext cx="7296912" cy="512064"/>
          </a:xfrm>
          <a:prstGeom prst="rect">
            <a:avLst/>
          </a:prstGeom>
          <a:solidFill>
            <a:srgbClr val="111B33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3504" y="4206240"/>
            <a:ext cx="7680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FF6B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강사 포인트</a:t>
            </a:r>
            <a:endParaRPr lang="en-US" sz="930" dirty="0"/>
          </a:p>
        </p:txBody>
      </p:sp>
      <p:sp>
        <p:nvSpPr>
          <p:cNvPr id="26" name="Text 24"/>
          <p:cNvSpPr/>
          <p:nvPr/>
        </p:nvSpPr>
        <p:spPr>
          <a:xfrm>
            <a:off x="1499616" y="4169664"/>
            <a:ext cx="5998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AAB7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복잡한 캔버스 화면을 그대로 보여주기 전에 추상화된 6단계 그림으로 먼저 머릿속 구조를 만든다.</a:t>
            </a:r>
            <a:endParaRPr lang="en-US" sz="960" dirty="0"/>
          </a:p>
        </p:txBody>
      </p:sp>
      <p:sp>
        <p:nvSpPr>
          <p:cNvPr id="27" name="Text 25"/>
          <p:cNvSpPr/>
          <p:nvPr/>
        </p:nvSpPr>
        <p:spPr>
          <a:xfrm rot="5400000">
            <a:off x="8119872" y="109728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C72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Morning Lab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201168"/>
            <a:ext cx="8631936" cy="4736592"/>
          </a:xfrm>
          <a:prstGeom prst="rect">
            <a:avLst/>
          </a:prstGeom>
          <a:solidFill>
            <a:srgbClr val="10182D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73568" y="201168"/>
            <a:ext cx="914400" cy="4736592"/>
          </a:xfrm>
          <a:prstGeom prst="rect">
            <a:avLst/>
          </a:prstGeom>
          <a:solidFill>
            <a:srgbClr val="0F1E38"/>
          </a:solidFill>
          <a:ln w="6350">
            <a:solidFill>
              <a:srgbClr val="2A36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310896"/>
            <a:ext cx="768096" cy="182880"/>
          </a:xfrm>
          <a:prstGeom prst="rect">
            <a:avLst/>
          </a:prstGeom>
          <a:solidFill>
            <a:srgbClr val="17304D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1D9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오전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8156448" y="310896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AB7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 / 40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603504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41D9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PROMPTING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822960"/>
            <a:ext cx="7040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Text-to-Video 프롬프트 설계 원칙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475488" y="1426464"/>
            <a:ext cx="3794760" cy="2505456"/>
          </a:xfrm>
          <a:prstGeom prst="rect">
            <a:avLst/>
          </a:prstGeom>
          <a:solidFill>
            <a:srgbClr val="121A30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98848" y="1426464"/>
            <a:ext cx="3273552" cy="2505456"/>
          </a:xfrm>
          <a:prstGeom prst="rect">
            <a:avLst/>
          </a:prstGeom>
          <a:solidFill>
            <a:srgbClr val="121A30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591056"/>
            <a:ext cx="3456432" cy="21762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342900" indent="-342900">
              <a:buSzPct val="100000"/>
              <a:buChar char="•"/>
            </a:pPr>
            <a:r>
              <a:rPr lang="en-US" sz="131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주체, 동작, 카메라, 조명, 배경, 분위기를 한 문장 안에서 구분해 적는다.</a:t>
            </a:r>
            <a:endParaRPr lang="en-US" sz="1310" dirty="0"/>
          </a:p>
          <a:p>
            <a:pPr marL="342900" indent="-342900">
              <a:buSzPct val="100000"/>
              <a:buChar char="•"/>
            </a:pPr>
            <a:r>
              <a:rPr lang="en-US" sz="131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브랜드 홍보 영상은 장면 설명뿐 아니라 제품/서비스 포지셔닝이 드러나야 한다.</a:t>
            </a:r>
            <a:endParaRPr lang="en-US" sz="1310" dirty="0"/>
          </a:p>
          <a:p>
            <a:pPr marL="342900" indent="-342900">
              <a:buSzPct val="100000"/>
              <a:buChar char="•"/>
            </a:pPr>
            <a:r>
              <a:rPr lang="en-US" sz="131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짧은 문장 여러 개보다 통제 가능한 구조 문장을 쓰는 편이 재현성이 높다.</a:t>
            </a:r>
            <a:endParaRPr lang="en-US" sz="1310" dirty="0"/>
          </a:p>
        </p:txBody>
      </p:sp>
      <p:sp>
        <p:nvSpPr>
          <p:cNvPr id="11" name="Text 9"/>
          <p:cNvSpPr/>
          <p:nvPr/>
        </p:nvSpPr>
        <p:spPr>
          <a:xfrm>
            <a:off x="4645152" y="1572768"/>
            <a:ext cx="2962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AB7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프롬프트 공식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645152" y="1828800"/>
            <a:ext cx="504749" cy="822960"/>
          </a:xfrm>
          <a:prstGeom prst="rect">
            <a:avLst/>
          </a:prstGeom>
          <a:solidFill>
            <a:srgbClr val="162441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91456" y="1956816"/>
            <a:ext cx="285293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주체</a:t>
            </a:r>
            <a:endParaRPr lang="en-US" sz="1120" dirty="0"/>
          </a:p>
        </p:txBody>
      </p:sp>
      <p:sp>
        <p:nvSpPr>
          <p:cNvPr id="14" name="Shape 12"/>
          <p:cNvSpPr/>
          <p:nvPr/>
        </p:nvSpPr>
        <p:spPr>
          <a:xfrm>
            <a:off x="5259629" y="1828800"/>
            <a:ext cx="504749" cy="822960"/>
          </a:xfrm>
          <a:prstGeom prst="rect">
            <a:avLst/>
          </a:prstGeom>
          <a:solidFill>
            <a:srgbClr val="162441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05933" y="1956816"/>
            <a:ext cx="285293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동작</a:t>
            </a:r>
            <a:endParaRPr lang="en-US" sz="1120" dirty="0"/>
          </a:p>
        </p:txBody>
      </p:sp>
      <p:sp>
        <p:nvSpPr>
          <p:cNvPr id="16" name="Shape 14"/>
          <p:cNvSpPr/>
          <p:nvPr/>
        </p:nvSpPr>
        <p:spPr>
          <a:xfrm>
            <a:off x="5874106" y="1828800"/>
            <a:ext cx="504749" cy="822960"/>
          </a:xfrm>
          <a:prstGeom prst="rect">
            <a:avLst/>
          </a:prstGeom>
          <a:solidFill>
            <a:srgbClr val="162441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20410" y="1956816"/>
            <a:ext cx="285293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카메라</a:t>
            </a:r>
            <a:endParaRPr lang="en-US" sz="1120" dirty="0"/>
          </a:p>
        </p:txBody>
      </p:sp>
      <p:sp>
        <p:nvSpPr>
          <p:cNvPr id="18" name="Shape 16"/>
          <p:cNvSpPr/>
          <p:nvPr/>
        </p:nvSpPr>
        <p:spPr>
          <a:xfrm>
            <a:off x="6488582" y="1828800"/>
            <a:ext cx="504749" cy="822960"/>
          </a:xfrm>
          <a:prstGeom prst="rect">
            <a:avLst/>
          </a:prstGeom>
          <a:solidFill>
            <a:srgbClr val="162441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34886" y="1956816"/>
            <a:ext cx="285293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조명</a:t>
            </a:r>
            <a:endParaRPr lang="en-US" sz="1120" dirty="0"/>
          </a:p>
        </p:txBody>
      </p:sp>
      <p:sp>
        <p:nvSpPr>
          <p:cNvPr id="20" name="Shape 18"/>
          <p:cNvSpPr/>
          <p:nvPr/>
        </p:nvSpPr>
        <p:spPr>
          <a:xfrm>
            <a:off x="7103059" y="1828800"/>
            <a:ext cx="504749" cy="822960"/>
          </a:xfrm>
          <a:prstGeom prst="rect">
            <a:avLst/>
          </a:prstGeom>
          <a:solidFill>
            <a:srgbClr val="162441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49363" y="1956816"/>
            <a:ext cx="285293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배경</a:t>
            </a:r>
            <a:endParaRPr lang="en-US" sz="1120" dirty="0"/>
          </a:p>
        </p:txBody>
      </p:sp>
      <p:sp>
        <p:nvSpPr>
          <p:cNvPr id="22" name="Shape 20"/>
          <p:cNvSpPr/>
          <p:nvPr/>
        </p:nvSpPr>
        <p:spPr>
          <a:xfrm>
            <a:off x="4645152" y="2761488"/>
            <a:ext cx="504749" cy="822960"/>
          </a:xfrm>
          <a:prstGeom prst="rect">
            <a:avLst/>
          </a:prstGeom>
          <a:solidFill>
            <a:srgbClr val="162441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91456" y="2889504"/>
            <a:ext cx="285293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톤앤매너</a:t>
            </a:r>
            <a:endParaRPr lang="en-US" sz="1120" dirty="0"/>
          </a:p>
        </p:txBody>
      </p:sp>
      <p:sp>
        <p:nvSpPr>
          <p:cNvPr id="24" name="Shape 22"/>
          <p:cNvSpPr/>
          <p:nvPr/>
        </p:nvSpPr>
        <p:spPr>
          <a:xfrm>
            <a:off x="475488" y="4096512"/>
            <a:ext cx="7296912" cy="512064"/>
          </a:xfrm>
          <a:prstGeom prst="rect">
            <a:avLst/>
          </a:prstGeom>
          <a:solidFill>
            <a:srgbClr val="111B33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3504" y="4206240"/>
            <a:ext cx="7680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FF6B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강사 포인트</a:t>
            </a:r>
            <a:endParaRPr lang="en-US" sz="930" dirty="0"/>
          </a:p>
        </p:txBody>
      </p:sp>
      <p:sp>
        <p:nvSpPr>
          <p:cNvPr id="26" name="Text 24"/>
          <p:cNvSpPr/>
          <p:nvPr/>
        </p:nvSpPr>
        <p:spPr>
          <a:xfrm>
            <a:off x="1499616" y="4169664"/>
            <a:ext cx="5998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AAB7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학습자 프롬프트를 읽어 주면서 빠진 슬롯이 무엇인지 실시간으로 짚어 주는 방식이 효과적이다.</a:t>
            </a:r>
            <a:endParaRPr lang="en-US" sz="960" dirty="0"/>
          </a:p>
        </p:txBody>
      </p:sp>
      <p:sp>
        <p:nvSpPr>
          <p:cNvPr id="27" name="Text 25"/>
          <p:cNvSpPr/>
          <p:nvPr/>
        </p:nvSpPr>
        <p:spPr>
          <a:xfrm rot="5400000">
            <a:off x="8119872" y="109728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1D9E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Morning Lab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201168"/>
            <a:ext cx="8631936" cy="4736592"/>
          </a:xfrm>
          <a:prstGeom prst="rect">
            <a:avLst/>
          </a:prstGeom>
          <a:solidFill>
            <a:srgbClr val="10182D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73568" y="201168"/>
            <a:ext cx="914400" cy="4736592"/>
          </a:xfrm>
          <a:prstGeom prst="rect">
            <a:avLst/>
          </a:prstGeom>
          <a:solidFill>
            <a:srgbClr val="132347"/>
          </a:solidFill>
          <a:ln w="6350">
            <a:solidFill>
              <a:srgbClr val="2A36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310896"/>
            <a:ext cx="768096" cy="182880"/>
          </a:xfrm>
          <a:prstGeom prst="rect">
            <a:avLst/>
          </a:prstGeom>
          <a:solidFill>
            <a:srgbClr val="17304D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1D9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오전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8156448" y="310896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AB7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 / 40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603504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41D9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IMAGE TO VIDEO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822960"/>
            <a:ext cx="7040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Image-to-Video 입력 설계 포인트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4498848" y="1426464"/>
            <a:ext cx="3794760" cy="2505456"/>
          </a:xfrm>
          <a:prstGeom prst="rect">
            <a:avLst/>
          </a:prstGeom>
          <a:solidFill>
            <a:srgbClr val="121A30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" y="1426464"/>
            <a:ext cx="3273552" cy="2505456"/>
          </a:xfrm>
          <a:prstGeom prst="rect">
            <a:avLst/>
          </a:prstGeom>
          <a:solidFill>
            <a:srgbClr val="121A30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1591056"/>
            <a:ext cx="3456432" cy="21762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342900" indent="-342900">
              <a:buSzPct val="100000"/>
              <a:buChar char="•"/>
            </a:pPr>
            <a:r>
              <a:rPr lang="en-US" sz="131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입력 이미지는 구도와 피사체가 명확해야 후속 프레임의 흔들림이 줄어든다.</a:t>
            </a:r>
            <a:endParaRPr lang="en-US" sz="1310" dirty="0"/>
          </a:p>
          <a:p>
            <a:pPr marL="342900" indent="-342900">
              <a:buSzPct val="100000"/>
              <a:buChar char="•"/>
            </a:pPr>
            <a:r>
              <a:rPr lang="en-US" sz="131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정지 이미지가 이미 브랜드 메시지를 담고 있으면 영상 확장이 쉬워진다.</a:t>
            </a:r>
            <a:endParaRPr lang="en-US" sz="1310" dirty="0"/>
          </a:p>
          <a:p>
            <a:pPr marL="342900" indent="-342900">
              <a:buSzPct val="100000"/>
              <a:buChar char="•"/>
            </a:pPr>
            <a:r>
              <a:rPr lang="en-US" sz="131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과도하게 복잡한 원본보다 핵심 오브젝트가 분명한 이미지를 선택하는 것이 좋다.</a:t>
            </a:r>
            <a:endParaRPr lang="en-US" sz="1310" dirty="0"/>
          </a:p>
        </p:txBody>
      </p:sp>
      <p:sp>
        <p:nvSpPr>
          <p:cNvPr id="11" name="Text 9"/>
          <p:cNvSpPr/>
          <p:nvPr/>
        </p:nvSpPr>
        <p:spPr>
          <a:xfrm>
            <a:off x="621792" y="1572768"/>
            <a:ext cx="2962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AB7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좋은 입력 이미지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21792" y="1828800"/>
            <a:ext cx="1426464" cy="822960"/>
          </a:xfrm>
          <a:prstGeom prst="rect">
            <a:avLst/>
          </a:prstGeom>
          <a:solidFill>
            <a:srgbClr val="162441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8096" y="1956816"/>
            <a:ext cx="1207008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명확한 피사체</a:t>
            </a:r>
            <a:endParaRPr lang="en-US" sz="1120" dirty="0"/>
          </a:p>
        </p:txBody>
      </p:sp>
      <p:sp>
        <p:nvSpPr>
          <p:cNvPr id="14" name="Shape 12"/>
          <p:cNvSpPr/>
          <p:nvPr/>
        </p:nvSpPr>
        <p:spPr>
          <a:xfrm>
            <a:off x="2157984" y="1828800"/>
            <a:ext cx="1426464" cy="822960"/>
          </a:xfrm>
          <a:prstGeom prst="rect">
            <a:avLst/>
          </a:prstGeom>
          <a:solidFill>
            <a:srgbClr val="162441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304288" y="1956816"/>
            <a:ext cx="1207008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안정적 구도</a:t>
            </a:r>
            <a:endParaRPr lang="en-US" sz="1120" dirty="0"/>
          </a:p>
        </p:txBody>
      </p:sp>
      <p:sp>
        <p:nvSpPr>
          <p:cNvPr id="16" name="Shape 14"/>
          <p:cNvSpPr/>
          <p:nvPr/>
        </p:nvSpPr>
        <p:spPr>
          <a:xfrm>
            <a:off x="621792" y="2761488"/>
            <a:ext cx="1426464" cy="822960"/>
          </a:xfrm>
          <a:prstGeom prst="rect">
            <a:avLst/>
          </a:prstGeom>
          <a:solidFill>
            <a:srgbClr val="162441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8096" y="2889504"/>
            <a:ext cx="1207008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브랜드 포인트</a:t>
            </a:r>
            <a:endParaRPr lang="en-US" sz="1120" dirty="0"/>
          </a:p>
        </p:txBody>
      </p:sp>
      <p:sp>
        <p:nvSpPr>
          <p:cNvPr id="18" name="Shape 16"/>
          <p:cNvSpPr/>
          <p:nvPr/>
        </p:nvSpPr>
        <p:spPr>
          <a:xfrm>
            <a:off x="2157984" y="2761488"/>
            <a:ext cx="1426464" cy="822960"/>
          </a:xfrm>
          <a:prstGeom prst="rect">
            <a:avLst/>
          </a:prstGeom>
          <a:solidFill>
            <a:srgbClr val="162441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304288" y="2889504"/>
            <a:ext cx="1207008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단순한 배경</a:t>
            </a:r>
            <a:endParaRPr lang="en-US" sz="1120" dirty="0"/>
          </a:p>
        </p:txBody>
      </p:sp>
      <p:sp>
        <p:nvSpPr>
          <p:cNvPr id="20" name="Shape 18"/>
          <p:cNvSpPr/>
          <p:nvPr/>
        </p:nvSpPr>
        <p:spPr>
          <a:xfrm>
            <a:off x="475488" y="4096512"/>
            <a:ext cx="7296912" cy="512064"/>
          </a:xfrm>
          <a:prstGeom prst="rect">
            <a:avLst/>
          </a:prstGeom>
          <a:solidFill>
            <a:srgbClr val="111B33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3504" y="4206240"/>
            <a:ext cx="7680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FF6B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강사 포인트</a:t>
            </a:r>
            <a:endParaRPr lang="en-US" sz="930" dirty="0"/>
          </a:p>
        </p:txBody>
      </p:sp>
      <p:sp>
        <p:nvSpPr>
          <p:cNvPr id="22" name="Text 20"/>
          <p:cNvSpPr/>
          <p:nvPr/>
        </p:nvSpPr>
        <p:spPr>
          <a:xfrm>
            <a:off x="1499616" y="4169664"/>
            <a:ext cx="5998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AAB7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이미지 선택 품질이 곧 영상 품질의 절반이라는 점을 강조한다.</a:t>
            </a:r>
            <a:endParaRPr lang="en-US" sz="960" dirty="0"/>
          </a:p>
        </p:txBody>
      </p:sp>
      <p:sp>
        <p:nvSpPr>
          <p:cNvPr id="23" name="Text 21"/>
          <p:cNvSpPr/>
          <p:nvPr/>
        </p:nvSpPr>
        <p:spPr>
          <a:xfrm rot="5400000">
            <a:off x="8119872" y="109728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C72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Morning Lab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201168"/>
            <a:ext cx="8631936" cy="4736592"/>
          </a:xfrm>
          <a:prstGeom prst="rect">
            <a:avLst/>
          </a:prstGeom>
          <a:solidFill>
            <a:srgbClr val="10182D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73568" y="201168"/>
            <a:ext cx="914400" cy="4736592"/>
          </a:xfrm>
          <a:prstGeom prst="rect">
            <a:avLst/>
          </a:prstGeom>
          <a:solidFill>
            <a:srgbClr val="0F1E38"/>
          </a:solidFill>
          <a:ln w="6350">
            <a:solidFill>
              <a:srgbClr val="2A36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310896"/>
            <a:ext cx="768096" cy="182880"/>
          </a:xfrm>
          <a:prstGeom prst="rect">
            <a:avLst/>
          </a:prstGeom>
          <a:solidFill>
            <a:srgbClr val="17304D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1D9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오전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8156448" y="310896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AB7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 / 40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603504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41D9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 FLOW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822960"/>
            <a:ext cx="7040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실시간 데모 진행 순서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475488" y="1426464"/>
            <a:ext cx="3794760" cy="2505456"/>
          </a:xfrm>
          <a:prstGeom prst="rect">
            <a:avLst/>
          </a:prstGeom>
          <a:solidFill>
            <a:srgbClr val="121A30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98848" y="1426464"/>
            <a:ext cx="3273552" cy="2505456"/>
          </a:xfrm>
          <a:prstGeom prst="rect">
            <a:avLst/>
          </a:prstGeom>
          <a:solidFill>
            <a:srgbClr val="121A30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591056"/>
            <a:ext cx="3456432" cy="21762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342900" indent="-342900">
              <a:buSzPct val="100000"/>
              <a:buChar char="•"/>
            </a:pPr>
            <a:r>
              <a:rPr lang="en-US" sz="131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기본 워크플로를 불러오고 최소 파라미터만 수정해 첫 결과를 빠르게 만든다.</a:t>
            </a:r>
            <a:endParaRPr lang="en-US" sz="1310" dirty="0"/>
          </a:p>
          <a:p>
            <a:pPr marL="342900" indent="-342900">
              <a:buSzPct val="100000"/>
              <a:buChar char="•"/>
            </a:pPr>
            <a:r>
              <a:rPr lang="en-US" sz="131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그 다음 프롬프트, 프레임 수, 시드, CFG를 하나씩 바꿔 차이를 비교한다.</a:t>
            </a:r>
            <a:endParaRPr lang="en-US" sz="1310" dirty="0"/>
          </a:p>
          <a:p>
            <a:pPr marL="342900" indent="-342900">
              <a:buSzPct val="100000"/>
              <a:buChar char="•"/>
            </a:pPr>
            <a:r>
              <a:rPr lang="en-US" sz="131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학습자는 결과만 보지 말고 어떤 변경이 어떤 차이를 만들었는지 기록한다.</a:t>
            </a:r>
            <a:endParaRPr lang="en-US" sz="1310" dirty="0"/>
          </a:p>
        </p:txBody>
      </p:sp>
      <p:sp>
        <p:nvSpPr>
          <p:cNvPr id="11" name="Text 9"/>
          <p:cNvSpPr/>
          <p:nvPr/>
        </p:nvSpPr>
        <p:spPr>
          <a:xfrm>
            <a:off x="4645152" y="1572768"/>
            <a:ext cx="2962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AB7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데모 단계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645152" y="1828800"/>
            <a:ext cx="658368" cy="822960"/>
          </a:xfrm>
          <a:prstGeom prst="rect">
            <a:avLst/>
          </a:prstGeom>
          <a:solidFill>
            <a:srgbClr val="162441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91456" y="1956816"/>
            <a:ext cx="438912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불러오기</a:t>
            </a:r>
            <a:endParaRPr lang="en-US" sz="1120" dirty="0"/>
          </a:p>
        </p:txBody>
      </p:sp>
      <p:sp>
        <p:nvSpPr>
          <p:cNvPr id="14" name="Shape 12"/>
          <p:cNvSpPr/>
          <p:nvPr/>
        </p:nvSpPr>
        <p:spPr>
          <a:xfrm>
            <a:off x="5413248" y="1828800"/>
            <a:ext cx="658368" cy="822960"/>
          </a:xfrm>
          <a:prstGeom prst="rect">
            <a:avLst/>
          </a:prstGeom>
          <a:solidFill>
            <a:srgbClr val="162441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59552" y="1956816"/>
            <a:ext cx="438912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기본 생성</a:t>
            </a:r>
            <a:endParaRPr lang="en-US" sz="1120" dirty="0"/>
          </a:p>
        </p:txBody>
      </p:sp>
      <p:sp>
        <p:nvSpPr>
          <p:cNvPr id="16" name="Shape 14"/>
          <p:cNvSpPr/>
          <p:nvPr/>
        </p:nvSpPr>
        <p:spPr>
          <a:xfrm>
            <a:off x="6181344" y="1828800"/>
            <a:ext cx="658368" cy="822960"/>
          </a:xfrm>
          <a:prstGeom prst="rect">
            <a:avLst/>
          </a:prstGeom>
          <a:solidFill>
            <a:srgbClr val="162441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27648" y="1956816"/>
            <a:ext cx="438912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파라미터 변경</a:t>
            </a:r>
            <a:endParaRPr lang="en-US" sz="1120" dirty="0"/>
          </a:p>
        </p:txBody>
      </p:sp>
      <p:sp>
        <p:nvSpPr>
          <p:cNvPr id="18" name="Shape 16"/>
          <p:cNvSpPr/>
          <p:nvPr/>
        </p:nvSpPr>
        <p:spPr>
          <a:xfrm>
            <a:off x="6949440" y="1828800"/>
            <a:ext cx="658368" cy="822960"/>
          </a:xfrm>
          <a:prstGeom prst="rect">
            <a:avLst/>
          </a:prstGeom>
          <a:solidFill>
            <a:srgbClr val="162441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95744" y="1956816"/>
            <a:ext cx="438912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결과 비교</a:t>
            </a:r>
            <a:endParaRPr lang="en-US" sz="1120" dirty="0"/>
          </a:p>
        </p:txBody>
      </p:sp>
      <p:sp>
        <p:nvSpPr>
          <p:cNvPr id="20" name="Shape 18"/>
          <p:cNvSpPr/>
          <p:nvPr/>
        </p:nvSpPr>
        <p:spPr>
          <a:xfrm>
            <a:off x="475488" y="4096512"/>
            <a:ext cx="7296912" cy="512064"/>
          </a:xfrm>
          <a:prstGeom prst="rect">
            <a:avLst/>
          </a:prstGeom>
          <a:solidFill>
            <a:srgbClr val="111B33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3504" y="4206240"/>
            <a:ext cx="7680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FF6B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강사 포인트</a:t>
            </a:r>
            <a:endParaRPr lang="en-US" sz="930" dirty="0"/>
          </a:p>
        </p:txBody>
      </p:sp>
      <p:sp>
        <p:nvSpPr>
          <p:cNvPr id="22" name="Text 20"/>
          <p:cNvSpPr/>
          <p:nvPr/>
        </p:nvSpPr>
        <p:spPr>
          <a:xfrm>
            <a:off x="1499616" y="4169664"/>
            <a:ext cx="5998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AAB7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데모는 완벽한 결과 시연보다 변수 하나씩 통제하는 실험 수업으로 운영한다.</a:t>
            </a:r>
            <a:endParaRPr lang="en-US" sz="960" dirty="0"/>
          </a:p>
        </p:txBody>
      </p:sp>
      <p:sp>
        <p:nvSpPr>
          <p:cNvPr id="23" name="Text 21"/>
          <p:cNvSpPr/>
          <p:nvPr/>
        </p:nvSpPr>
        <p:spPr>
          <a:xfrm rot="5400000">
            <a:off x="8119872" y="109728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1D9E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Morning Lab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201168"/>
            <a:ext cx="8631936" cy="4736592"/>
          </a:xfrm>
          <a:prstGeom prst="rect">
            <a:avLst/>
          </a:prstGeom>
          <a:solidFill>
            <a:srgbClr val="10182D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73568" y="201168"/>
            <a:ext cx="914400" cy="4736592"/>
          </a:xfrm>
          <a:prstGeom prst="rect">
            <a:avLst/>
          </a:prstGeom>
          <a:solidFill>
            <a:srgbClr val="132347"/>
          </a:solidFill>
          <a:ln w="6350">
            <a:solidFill>
              <a:srgbClr val="2A36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310896"/>
            <a:ext cx="768096" cy="182880"/>
          </a:xfrm>
          <a:prstGeom prst="rect">
            <a:avLst/>
          </a:prstGeom>
          <a:solidFill>
            <a:srgbClr val="17304D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1D9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오전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8156448" y="310896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AB7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 / 40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603504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41D9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PRACTICE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822960"/>
            <a:ext cx="7040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오전 실습 미션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4498848" y="1426464"/>
            <a:ext cx="3794760" cy="2505456"/>
          </a:xfrm>
          <a:prstGeom prst="rect">
            <a:avLst/>
          </a:prstGeom>
          <a:solidFill>
            <a:srgbClr val="121A30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" y="1426464"/>
            <a:ext cx="3273552" cy="2505456"/>
          </a:xfrm>
          <a:prstGeom prst="rect">
            <a:avLst/>
          </a:prstGeom>
          <a:solidFill>
            <a:srgbClr val="121A30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1591056"/>
            <a:ext cx="3456432" cy="21762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342900" indent="-342900">
              <a:buSzPct val="100000"/>
              <a:buChar char="•"/>
            </a:pPr>
            <a:r>
              <a:rPr lang="en-US" sz="131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기본 워크플로 실행 성공을 1차 목표로 한다.</a:t>
            </a:r>
            <a:endParaRPr lang="en-US" sz="1310" dirty="0"/>
          </a:p>
          <a:p>
            <a:pPr marL="342900" indent="-342900">
              <a:buSzPct val="100000"/>
              <a:buChar char="•"/>
            </a:pPr>
            <a:r>
              <a:rPr lang="en-US" sz="131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텍스트 입력만 변경한 결과와 참조 이미지를 넣은 결과를 각각 한 번씩 생성한다.</a:t>
            </a:r>
            <a:endParaRPr lang="en-US" sz="1310" dirty="0"/>
          </a:p>
          <a:p>
            <a:pPr marL="342900" indent="-342900">
              <a:buSzPct val="100000"/>
              <a:buChar char="•"/>
            </a:pPr>
            <a:r>
              <a:rPr lang="en-US" sz="131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실패 로그가 있으면 오류 메시지와 수정 과정을 함께 기록한다.</a:t>
            </a:r>
            <a:endParaRPr lang="en-US" sz="1310" dirty="0"/>
          </a:p>
        </p:txBody>
      </p:sp>
      <p:sp>
        <p:nvSpPr>
          <p:cNvPr id="11" name="Text 9"/>
          <p:cNvSpPr/>
          <p:nvPr/>
        </p:nvSpPr>
        <p:spPr>
          <a:xfrm>
            <a:off x="621792" y="1572768"/>
            <a:ext cx="2962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AB7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실습 완료 조건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21792" y="1828800"/>
            <a:ext cx="1426464" cy="822960"/>
          </a:xfrm>
          <a:prstGeom prst="rect">
            <a:avLst/>
          </a:prstGeom>
          <a:solidFill>
            <a:srgbClr val="162441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" y="1965960"/>
            <a:ext cx="146304" cy="146304"/>
          </a:xfrm>
          <a:prstGeom prst="ellipse">
            <a:avLst/>
          </a:prstGeom>
          <a:solidFill>
            <a:srgbClr val="35D49A"/>
          </a:solidFill>
          <a:ln w="6350">
            <a:solidFill>
              <a:srgbClr val="35D4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8096" y="1956816"/>
            <a:ext cx="1207008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생성 1회 성공</a:t>
            </a:r>
            <a:endParaRPr lang="en-US" sz="1120" dirty="0"/>
          </a:p>
        </p:txBody>
      </p:sp>
      <p:sp>
        <p:nvSpPr>
          <p:cNvPr id="15" name="Shape 13"/>
          <p:cNvSpPr/>
          <p:nvPr/>
        </p:nvSpPr>
        <p:spPr>
          <a:xfrm>
            <a:off x="2157984" y="1828800"/>
            <a:ext cx="1426464" cy="822960"/>
          </a:xfrm>
          <a:prstGeom prst="rect">
            <a:avLst/>
          </a:prstGeom>
          <a:solidFill>
            <a:srgbClr val="162441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67712" y="1965960"/>
            <a:ext cx="146304" cy="146304"/>
          </a:xfrm>
          <a:prstGeom prst="ellipse">
            <a:avLst/>
          </a:prstGeom>
          <a:solidFill>
            <a:srgbClr val="35D49A"/>
          </a:solidFill>
          <a:ln w="6350">
            <a:solidFill>
              <a:srgbClr val="35D4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04288" y="1956816"/>
            <a:ext cx="1207008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T2V 결과 저장</a:t>
            </a:r>
            <a:endParaRPr lang="en-US" sz="1120" dirty="0"/>
          </a:p>
        </p:txBody>
      </p:sp>
      <p:sp>
        <p:nvSpPr>
          <p:cNvPr id="18" name="Shape 16"/>
          <p:cNvSpPr/>
          <p:nvPr/>
        </p:nvSpPr>
        <p:spPr>
          <a:xfrm>
            <a:off x="621792" y="2761488"/>
            <a:ext cx="1426464" cy="822960"/>
          </a:xfrm>
          <a:prstGeom prst="rect">
            <a:avLst/>
          </a:prstGeom>
          <a:solidFill>
            <a:srgbClr val="162441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1520" y="2898648"/>
            <a:ext cx="146304" cy="146304"/>
          </a:xfrm>
          <a:prstGeom prst="ellipse">
            <a:avLst/>
          </a:prstGeom>
          <a:solidFill>
            <a:srgbClr val="35D49A"/>
          </a:solidFill>
          <a:ln w="6350">
            <a:solidFill>
              <a:srgbClr val="35D49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8096" y="2889504"/>
            <a:ext cx="1207008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I2V 결과 저장</a:t>
            </a:r>
            <a:endParaRPr lang="en-US" sz="1120" dirty="0"/>
          </a:p>
        </p:txBody>
      </p:sp>
      <p:sp>
        <p:nvSpPr>
          <p:cNvPr id="21" name="Shape 19"/>
          <p:cNvSpPr/>
          <p:nvPr/>
        </p:nvSpPr>
        <p:spPr>
          <a:xfrm>
            <a:off x="2157984" y="2761488"/>
            <a:ext cx="1426464" cy="822960"/>
          </a:xfrm>
          <a:prstGeom prst="rect">
            <a:avLst/>
          </a:prstGeom>
          <a:solidFill>
            <a:srgbClr val="162441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67712" y="2898648"/>
            <a:ext cx="146304" cy="146304"/>
          </a:xfrm>
          <a:prstGeom prst="ellipse">
            <a:avLst/>
          </a:prstGeom>
          <a:solidFill>
            <a:srgbClr val="35D49A"/>
          </a:solidFill>
          <a:ln w="6350">
            <a:solidFill>
              <a:srgbClr val="35D49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04288" y="2889504"/>
            <a:ext cx="1207008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오류 기록</a:t>
            </a:r>
            <a:endParaRPr lang="en-US" sz="1120" dirty="0"/>
          </a:p>
        </p:txBody>
      </p:sp>
      <p:sp>
        <p:nvSpPr>
          <p:cNvPr id="24" name="Shape 22"/>
          <p:cNvSpPr/>
          <p:nvPr/>
        </p:nvSpPr>
        <p:spPr>
          <a:xfrm>
            <a:off x="475488" y="4096512"/>
            <a:ext cx="7296912" cy="512064"/>
          </a:xfrm>
          <a:prstGeom prst="rect">
            <a:avLst/>
          </a:prstGeom>
          <a:solidFill>
            <a:srgbClr val="111B33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3504" y="4206240"/>
            <a:ext cx="7680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FF6B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강사 포인트</a:t>
            </a:r>
            <a:endParaRPr lang="en-US" sz="930" dirty="0"/>
          </a:p>
        </p:txBody>
      </p:sp>
      <p:sp>
        <p:nvSpPr>
          <p:cNvPr id="26" name="Text 24"/>
          <p:cNvSpPr/>
          <p:nvPr/>
        </p:nvSpPr>
        <p:spPr>
          <a:xfrm>
            <a:off x="1499616" y="4169664"/>
            <a:ext cx="5998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AAB7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오전 실습의 성공 기준을 ‘좋은 영상’이 아니라 ‘파이프라인 정상 동작’으로 둔다.</a:t>
            </a:r>
            <a:endParaRPr lang="en-US" sz="960" dirty="0"/>
          </a:p>
        </p:txBody>
      </p:sp>
      <p:sp>
        <p:nvSpPr>
          <p:cNvPr id="27" name="Text 25"/>
          <p:cNvSpPr/>
          <p:nvPr/>
        </p:nvSpPr>
        <p:spPr>
          <a:xfrm rot="5400000">
            <a:off x="8119872" y="109728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C72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Morning Lab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201168"/>
            <a:ext cx="8631936" cy="4736592"/>
          </a:xfrm>
          <a:prstGeom prst="rect">
            <a:avLst/>
          </a:prstGeom>
          <a:solidFill>
            <a:srgbClr val="10182D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73568" y="201168"/>
            <a:ext cx="914400" cy="4736592"/>
          </a:xfrm>
          <a:prstGeom prst="rect">
            <a:avLst/>
          </a:prstGeom>
          <a:solidFill>
            <a:srgbClr val="0F1E38"/>
          </a:solidFill>
          <a:ln w="6350">
            <a:solidFill>
              <a:srgbClr val="2A36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310896"/>
            <a:ext cx="768096" cy="182880"/>
          </a:xfrm>
          <a:prstGeom prst="rect">
            <a:avLst/>
          </a:prstGeom>
          <a:solidFill>
            <a:srgbClr val="17304D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1D9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오전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8156448" y="310896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AB7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 / 40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603504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41D9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TROUBLESHOOTING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822960"/>
            <a:ext cx="7040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오전에 자주 발생하는 문제와 해결 포인트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475488" y="1426464"/>
            <a:ext cx="3794760" cy="2505456"/>
          </a:xfrm>
          <a:prstGeom prst="rect">
            <a:avLst/>
          </a:prstGeom>
          <a:solidFill>
            <a:srgbClr val="121A30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98848" y="1426464"/>
            <a:ext cx="3273552" cy="2505456"/>
          </a:xfrm>
          <a:prstGeom prst="rect">
            <a:avLst/>
          </a:prstGeom>
          <a:solidFill>
            <a:srgbClr val="121A30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591056"/>
            <a:ext cx="3456432" cy="21762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342900" indent="-342900">
              <a:buSzPct val="100000"/>
              <a:buChar char="•"/>
            </a:pPr>
            <a:r>
              <a:rPr lang="en-US" sz="131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모델 미인식, VRAM 부족, 노드 누락, 출력 경로 오류가 대표적이다.</a:t>
            </a:r>
            <a:endParaRPr lang="en-US" sz="1310" dirty="0"/>
          </a:p>
          <a:p>
            <a:pPr marL="342900" indent="-342900">
              <a:buSzPct val="100000"/>
              <a:buChar char="•"/>
            </a:pPr>
            <a:r>
              <a:rPr lang="en-US" sz="131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오류는 증상-원인-조치 순으로 기록해야 같은 문제가 반복되지 않는다.</a:t>
            </a:r>
            <a:endParaRPr lang="en-US" sz="1310" dirty="0"/>
          </a:p>
          <a:p>
            <a:pPr marL="342900" indent="-342900">
              <a:buSzPct val="100000"/>
              <a:buChar char="•"/>
            </a:pPr>
            <a:r>
              <a:rPr lang="en-US" sz="131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개인 PC 환경 차이가 크므로 표준 해결 절차를 공용 문서로 공유하는 것이 좋다.</a:t>
            </a:r>
            <a:endParaRPr lang="en-US" sz="1310" dirty="0"/>
          </a:p>
        </p:txBody>
      </p:sp>
      <p:sp>
        <p:nvSpPr>
          <p:cNvPr id="11" name="Text 9"/>
          <p:cNvSpPr/>
          <p:nvPr/>
        </p:nvSpPr>
        <p:spPr>
          <a:xfrm>
            <a:off x="4645152" y="1572768"/>
            <a:ext cx="2962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AB7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대표 오류</a:t>
            </a:r>
            <a:endParaRPr lang="en-US" sz="95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45152" y="1828800"/>
          <a:ext cx="2962656" cy="1901952"/>
        </p:xfrm>
        <a:graphic>
          <a:graphicData uri="http://schemas.openxmlformats.org/drawingml/2006/table">
            <a:tbl>
              <a:tblPr/>
              <a:tblGrid>
                <a:gridCol w="1125809"/>
                <a:gridCol w="1836847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5F7F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모델 로딩 실패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5F7F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경로 확인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4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5F7F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메모리 부족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5F7F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해상도/프레임 감소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4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5F7F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노드 누락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5F7F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커스텀 노드 설치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4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5F7F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저장 실패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5F7F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출력 폴더 권한 확인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41"/>
                    </a:solidFill>
                  </a:tcPr>
                </a:tc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475488" y="4096512"/>
            <a:ext cx="7296912" cy="512064"/>
          </a:xfrm>
          <a:prstGeom prst="rect">
            <a:avLst/>
          </a:prstGeom>
          <a:solidFill>
            <a:srgbClr val="111B33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3504" y="4206240"/>
            <a:ext cx="7680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FF6B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강사 포인트</a:t>
            </a:r>
            <a:endParaRPr lang="en-US" sz="930" dirty="0"/>
          </a:p>
        </p:txBody>
      </p:sp>
      <p:sp>
        <p:nvSpPr>
          <p:cNvPr id="15" name="Text 12"/>
          <p:cNvSpPr/>
          <p:nvPr/>
        </p:nvSpPr>
        <p:spPr>
          <a:xfrm>
            <a:off x="1499616" y="4169664"/>
            <a:ext cx="5998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AAB7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오류를 개인 문제로 넘기지 말고 팀 자산으로 축적하는 습관을 강조한다.</a:t>
            </a:r>
            <a:endParaRPr lang="en-US" sz="960" dirty="0"/>
          </a:p>
        </p:txBody>
      </p:sp>
      <p:sp>
        <p:nvSpPr>
          <p:cNvPr id="16" name="Text 13"/>
          <p:cNvSpPr/>
          <p:nvPr/>
        </p:nvSpPr>
        <p:spPr>
          <a:xfrm rot="5400000">
            <a:off x="8119872" y="109728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1D9E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Morning Lab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201168"/>
            <a:ext cx="8631936" cy="4736592"/>
          </a:xfrm>
          <a:prstGeom prst="rect">
            <a:avLst/>
          </a:prstGeom>
          <a:solidFill>
            <a:srgbClr val="10182D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73568" y="201168"/>
            <a:ext cx="914400" cy="4736592"/>
          </a:xfrm>
          <a:prstGeom prst="rect">
            <a:avLst/>
          </a:prstGeom>
          <a:solidFill>
            <a:srgbClr val="132347"/>
          </a:solidFill>
          <a:ln w="6350">
            <a:solidFill>
              <a:srgbClr val="2A36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310896"/>
            <a:ext cx="768096" cy="182880"/>
          </a:xfrm>
          <a:prstGeom prst="rect">
            <a:avLst/>
          </a:prstGeom>
          <a:solidFill>
            <a:srgbClr val="17304D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1D9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오전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8156448" y="310896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AB7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 / 40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603504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41D9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WRAP-UP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822960"/>
            <a:ext cx="7040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오전 세션 정리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4498848" y="1426464"/>
            <a:ext cx="3794760" cy="2505456"/>
          </a:xfrm>
          <a:prstGeom prst="rect">
            <a:avLst/>
          </a:prstGeom>
          <a:solidFill>
            <a:srgbClr val="121A30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" y="1426464"/>
            <a:ext cx="3273552" cy="2505456"/>
          </a:xfrm>
          <a:prstGeom prst="rect">
            <a:avLst/>
          </a:prstGeom>
          <a:solidFill>
            <a:srgbClr val="121A30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1591056"/>
            <a:ext cx="3456432" cy="21762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342900" indent="-342900">
              <a:buSzPct val="100000"/>
              <a:buChar char="•"/>
            </a:pPr>
            <a:r>
              <a:rPr lang="en-US" sz="131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ComfyUI 구조 이해, LTX-Video 개념 파악, 기본 생성 성공이 오전의 핵심이다.</a:t>
            </a:r>
            <a:endParaRPr lang="en-US" sz="1310" dirty="0"/>
          </a:p>
          <a:p>
            <a:pPr marL="342900" indent="-342900">
              <a:buSzPct val="100000"/>
              <a:buChar char="•"/>
            </a:pPr>
            <a:r>
              <a:rPr lang="en-US" sz="131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오후에는 파라미터 제어를 통해 결과를 상업적으로 쓸 수 있는 수준으로 끌어올린다.</a:t>
            </a:r>
            <a:endParaRPr lang="en-US" sz="1310" dirty="0"/>
          </a:p>
          <a:p>
            <a:pPr marL="342900" indent="-342900">
              <a:buSzPct val="100000"/>
              <a:buChar char="•"/>
            </a:pPr>
            <a:r>
              <a:rPr lang="en-US" sz="131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오전 실습 결과를 저장해 두면 오후 비교 실험의 기준선으로 활용할 수 있다.</a:t>
            </a:r>
            <a:endParaRPr lang="en-US" sz="1310" dirty="0"/>
          </a:p>
        </p:txBody>
      </p:sp>
      <p:sp>
        <p:nvSpPr>
          <p:cNvPr id="11" name="Text 9"/>
          <p:cNvSpPr/>
          <p:nvPr/>
        </p:nvSpPr>
        <p:spPr>
          <a:xfrm>
            <a:off x="621792" y="1572768"/>
            <a:ext cx="2962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AB7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오전 성과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21792" y="1828800"/>
            <a:ext cx="914400" cy="457200"/>
          </a:xfrm>
          <a:prstGeom prst="roundRect">
            <a:avLst>
              <a:gd name="adj" fmla="val 16000"/>
            </a:avLst>
          </a:prstGeom>
          <a:solidFill>
            <a:srgbClr val="162441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6656" y="1920240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1D9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세팅 완료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1645920" y="1828800"/>
            <a:ext cx="914400" cy="457200"/>
          </a:xfrm>
          <a:prstGeom prst="roundRect">
            <a:avLst>
              <a:gd name="adj" fmla="val 16000"/>
            </a:avLst>
          </a:prstGeom>
          <a:solidFill>
            <a:srgbClr val="162441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700784" y="1920240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C7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개념 이해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670048" y="1828800"/>
            <a:ext cx="914400" cy="457200"/>
          </a:xfrm>
          <a:prstGeom prst="roundRect">
            <a:avLst>
              <a:gd name="adj" fmla="val 16000"/>
            </a:avLst>
          </a:prstGeom>
          <a:solidFill>
            <a:srgbClr val="162441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24912" y="1920240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1D9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기본 생성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21792" y="2468880"/>
            <a:ext cx="2962656" cy="457200"/>
          </a:xfrm>
          <a:prstGeom prst="roundRect">
            <a:avLst>
              <a:gd name="adj" fmla="val 16000"/>
            </a:avLst>
          </a:prstGeom>
          <a:solidFill>
            <a:srgbClr val="162441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6656" y="2560320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1D9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오후 준비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75488" y="4096512"/>
            <a:ext cx="7296912" cy="512064"/>
          </a:xfrm>
          <a:prstGeom prst="rect">
            <a:avLst/>
          </a:prstGeom>
          <a:solidFill>
            <a:srgbClr val="111B33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3504" y="4206240"/>
            <a:ext cx="7680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FF6B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강사 포인트</a:t>
            </a:r>
            <a:endParaRPr lang="en-US" sz="930" dirty="0"/>
          </a:p>
        </p:txBody>
      </p:sp>
      <p:sp>
        <p:nvSpPr>
          <p:cNvPr id="22" name="Text 20"/>
          <p:cNvSpPr/>
          <p:nvPr/>
        </p:nvSpPr>
        <p:spPr>
          <a:xfrm>
            <a:off x="1499616" y="4169664"/>
            <a:ext cx="5998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AAB7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오전 결과물을 버리지 말고 baseline으로 남겨 두라고 안내한다.</a:t>
            </a:r>
            <a:endParaRPr lang="en-US" sz="960" dirty="0"/>
          </a:p>
        </p:txBody>
      </p:sp>
      <p:sp>
        <p:nvSpPr>
          <p:cNvPr id="23" name="Text 21"/>
          <p:cNvSpPr/>
          <p:nvPr/>
        </p:nvSpPr>
        <p:spPr>
          <a:xfrm rot="5400000">
            <a:off x="8119872" y="109728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C72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Morning Lab</a:t>
            </a:r>
            <a:endParaRPr lang="en-US" sz="11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201168"/>
            <a:ext cx="8631936" cy="4736592"/>
          </a:xfrm>
          <a:prstGeom prst="rect">
            <a:avLst/>
          </a:prstGeom>
          <a:solidFill>
            <a:srgbClr val="10182D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73568" y="201168"/>
            <a:ext cx="914400" cy="4736592"/>
          </a:xfrm>
          <a:prstGeom prst="rect">
            <a:avLst/>
          </a:prstGeom>
          <a:solidFill>
            <a:srgbClr val="0F1E38"/>
          </a:solidFill>
          <a:ln w="6350">
            <a:solidFill>
              <a:srgbClr val="2A36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310896"/>
            <a:ext cx="768096" cy="182880"/>
          </a:xfrm>
          <a:prstGeom prst="rect">
            <a:avLst/>
          </a:prstGeom>
          <a:solidFill>
            <a:srgbClr val="17304D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1D9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오후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8156448" y="310896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AB7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 / 40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603504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41D9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AFTERNOON BLOCK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822960"/>
            <a:ext cx="7040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오후 세션: 영상 고도화 실습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475488" y="1426464"/>
            <a:ext cx="3794760" cy="2505456"/>
          </a:xfrm>
          <a:prstGeom prst="rect">
            <a:avLst/>
          </a:prstGeom>
          <a:solidFill>
            <a:srgbClr val="121A30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98848" y="1426464"/>
            <a:ext cx="3273552" cy="2505456"/>
          </a:xfrm>
          <a:prstGeom prst="rect">
            <a:avLst/>
          </a:prstGeom>
          <a:solidFill>
            <a:srgbClr val="121A30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591056"/>
            <a:ext cx="3456432" cy="21762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342900" indent="-342900">
              <a:buSzPct val="100000"/>
              <a:buChar char="•"/>
            </a:pPr>
            <a:r>
              <a:rPr lang="en-US" sz="131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오후는 결과 품질과 비즈니스 활용성을 높이는 데 집중한다.</a:t>
            </a:r>
            <a:endParaRPr lang="en-US" sz="1310" dirty="0"/>
          </a:p>
          <a:p>
            <a:pPr marL="342900" indent="-342900">
              <a:buSzPct val="100000"/>
              <a:buChar char="•"/>
            </a:pPr>
            <a:r>
              <a:rPr lang="en-US" sz="131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CFG와 샘플러 조정, 프롬프트 정교화, 장면 일관성 확보가 핵심 과제다.</a:t>
            </a:r>
            <a:endParaRPr lang="en-US" sz="1310" dirty="0"/>
          </a:p>
          <a:p>
            <a:pPr marL="342900" indent="-342900">
              <a:buSzPct val="100000"/>
              <a:buChar char="•"/>
            </a:pPr>
            <a:r>
              <a:rPr lang="en-US" sz="131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최종 목표는 짧지만 설득력 있는 비즈니스 홍보 영상 샘플 완성이다.</a:t>
            </a:r>
            <a:endParaRPr lang="en-US" sz="1310" dirty="0"/>
          </a:p>
        </p:txBody>
      </p:sp>
      <p:sp>
        <p:nvSpPr>
          <p:cNvPr id="11" name="Text 9"/>
          <p:cNvSpPr/>
          <p:nvPr/>
        </p:nvSpPr>
        <p:spPr>
          <a:xfrm>
            <a:off x="4645152" y="1572768"/>
            <a:ext cx="2962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AB7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고도화 축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645152" y="1828800"/>
            <a:ext cx="914400" cy="457200"/>
          </a:xfrm>
          <a:prstGeom prst="roundRect">
            <a:avLst>
              <a:gd name="adj" fmla="val 16000"/>
            </a:avLst>
          </a:prstGeom>
          <a:solidFill>
            <a:srgbClr val="162441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0016" y="1920240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1D9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CFG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669280" y="1828800"/>
            <a:ext cx="914400" cy="457200"/>
          </a:xfrm>
          <a:prstGeom prst="roundRect">
            <a:avLst>
              <a:gd name="adj" fmla="val 16000"/>
            </a:avLst>
          </a:prstGeom>
          <a:solidFill>
            <a:srgbClr val="162441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24144" y="1920240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C7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Sampler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693408" y="1828800"/>
            <a:ext cx="914400" cy="457200"/>
          </a:xfrm>
          <a:prstGeom prst="roundRect">
            <a:avLst>
              <a:gd name="adj" fmla="val 16000"/>
            </a:avLst>
          </a:prstGeom>
          <a:solidFill>
            <a:srgbClr val="162441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48272" y="1920240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1D9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Consistency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645152" y="2468880"/>
            <a:ext cx="1426464" cy="457200"/>
          </a:xfrm>
          <a:prstGeom prst="roundRect">
            <a:avLst>
              <a:gd name="adj" fmla="val 16000"/>
            </a:avLst>
          </a:prstGeom>
          <a:solidFill>
            <a:srgbClr val="162441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00016" y="2560320"/>
            <a:ext cx="1316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1D9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Storyboard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181344" y="2468880"/>
            <a:ext cx="1426464" cy="457200"/>
          </a:xfrm>
          <a:prstGeom prst="roundRect">
            <a:avLst>
              <a:gd name="adj" fmla="val 16000"/>
            </a:avLst>
          </a:prstGeom>
          <a:solidFill>
            <a:srgbClr val="162441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36208" y="2560320"/>
            <a:ext cx="1316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C7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Promo Output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75488" y="4096512"/>
            <a:ext cx="7296912" cy="512064"/>
          </a:xfrm>
          <a:prstGeom prst="rect">
            <a:avLst/>
          </a:prstGeom>
          <a:solidFill>
            <a:srgbClr val="111B33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3504" y="4206240"/>
            <a:ext cx="7680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FF6B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강사 포인트</a:t>
            </a:r>
            <a:endParaRPr lang="en-US" sz="930" dirty="0"/>
          </a:p>
        </p:txBody>
      </p:sp>
      <p:sp>
        <p:nvSpPr>
          <p:cNvPr id="24" name="Text 22"/>
          <p:cNvSpPr/>
          <p:nvPr/>
        </p:nvSpPr>
        <p:spPr>
          <a:xfrm>
            <a:off x="1499616" y="4169664"/>
            <a:ext cx="5998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AAB7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오후는 ‘작동’에서 ‘품질’로 초점이 이동한다는 점을 분명히 말한다.</a:t>
            </a:r>
            <a:endParaRPr lang="en-US" sz="960" dirty="0"/>
          </a:p>
        </p:txBody>
      </p:sp>
      <p:sp>
        <p:nvSpPr>
          <p:cNvPr id="25" name="Text 23"/>
          <p:cNvSpPr/>
          <p:nvPr/>
        </p:nvSpPr>
        <p:spPr>
          <a:xfrm rot="5400000">
            <a:off x="8119872" y="109728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1D9E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Afternoon Lab</a:t>
            </a:r>
            <a:endParaRPr lang="en-US" sz="11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201168"/>
            <a:ext cx="8631936" cy="4736592"/>
          </a:xfrm>
          <a:prstGeom prst="rect">
            <a:avLst/>
          </a:prstGeom>
          <a:solidFill>
            <a:srgbClr val="10182D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73568" y="201168"/>
            <a:ext cx="914400" cy="4736592"/>
          </a:xfrm>
          <a:prstGeom prst="rect">
            <a:avLst/>
          </a:prstGeom>
          <a:solidFill>
            <a:srgbClr val="132347"/>
          </a:solidFill>
          <a:ln w="6350">
            <a:solidFill>
              <a:srgbClr val="2A36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310896"/>
            <a:ext cx="768096" cy="182880"/>
          </a:xfrm>
          <a:prstGeom prst="rect">
            <a:avLst/>
          </a:prstGeom>
          <a:solidFill>
            <a:srgbClr val="17304D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1D9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오후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8156448" y="310896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AB7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 / 40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603504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41D9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822960"/>
            <a:ext cx="7040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오후 학습 목표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4498848" y="1426464"/>
            <a:ext cx="3794760" cy="2505456"/>
          </a:xfrm>
          <a:prstGeom prst="rect">
            <a:avLst/>
          </a:prstGeom>
          <a:solidFill>
            <a:srgbClr val="121A30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" y="1426464"/>
            <a:ext cx="3273552" cy="2505456"/>
          </a:xfrm>
          <a:prstGeom prst="rect">
            <a:avLst/>
          </a:prstGeom>
          <a:solidFill>
            <a:srgbClr val="121A30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1591056"/>
            <a:ext cx="3456432" cy="21762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342900" indent="-342900">
              <a:buSzPct val="100000"/>
              <a:buChar char="•"/>
            </a:pPr>
            <a:r>
              <a:rPr lang="en-US" sz="131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CFG와 샘플러가 결과물의 안정성과 표현력에 주는 영향을 비교한다.</a:t>
            </a:r>
            <a:endParaRPr lang="en-US" sz="1310" dirty="0"/>
          </a:p>
          <a:p>
            <a:pPr marL="342900" indent="-342900">
              <a:buSzPct val="100000"/>
              <a:buChar char="•"/>
            </a:pPr>
            <a:r>
              <a:rPr lang="en-US" sz="131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브랜드 메시지를 포함한 짧은 홍보 영상 구조를 설계한다.</a:t>
            </a:r>
            <a:endParaRPr lang="en-US" sz="1310" dirty="0"/>
          </a:p>
          <a:p>
            <a:pPr marL="342900" indent="-342900">
              <a:buSzPct val="100000"/>
              <a:buChar char="•"/>
            </a:pPr>
            <a:r>
              <a:rPr lang="en-US" sz="131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최종 산출물을 리뷰 기준에 따라 점검하고 개선한다.</a:t>
            </a:r>
            <a:endParaRPr lang="en-US" sz="1310" dirty="0"/>
          </a:p>
        </p:txBody>
      </p:sp>
      <p:sp>
        <p:nvSpPr>
          <p:cNvPr id="11" name="Text 9"/>
          <p:cNvSpPr/>
          <p:nvPr/>
        </p:nvSpPr>
        <p:spPr>
          <a:xfrm>
            <a:off x="621792" y="1572768"/>
            <a:ext cx="2962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AB7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오후 목표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21792" y="1828800"/>
            <a:ext cx="1426464" cy="822960"/>
          </a:xfrm>
          <a:prstGeom prst="rect">
            <a:avLst/>
          </a:prstGeom>
          <a:solidFill>
            <a:srgbClr val="162441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8096" y="1956816"/>
            <a:ext cx="1207008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제어</a:t>
            </a:r>
            <a:endParaRPr lang="en-US" sz="1120" dirty="0"/>
          </a:p>
        </p:txBody>
      </p:sp>
      <p:sp>
        <p:nvSpPr>
          <p:cNvPr id="14" name="Shape 12"/>
          <p:cNvSpPr/>
          <p:nvPr/>
        </p:nvSpPr>
        <p:spPr>
          <a:xfrm>
            <a:off x="2157984" y="1828800"/>
            <a:ext cx="1426464" cy="822960"/>
          </a:xfrm>
          <a:prstGeom prst="rect">
            <a:avLst/>
          </a:prstGeom>
          <a:solidFill>
            <a:srgbClr val="162441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304288" y="1956816"/>
            <a:ext cx="1207008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비교</a:t>
            </a:r>
            <a:endParaRPr lang="en-US" sz="1120" dirty="0"/>
          </a:p>
        </p:txBody>
      </p:sp>
      <p:sp>
        <p:nvSpPr>
          <p:cNvPr id="16" name="Shape 14"/>
          <p:cNvSpPr/>
          <p:nvPr/>
        </p:nvSpPr>
        <p:spPr>
          <a:xfrm>
            <a:off x="621792" y="2761488"/>
            <a:ext cx="1426464" cy="822960"/>
          </a:xfrm>
          <a:prstGeom prst="rect">
            <a:avLst/>
          </a:prstGeom>
          <a:solidFill>
            <a:srgbClr val="162441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8096" y="2889504"/>
            <a:ext cx="1207008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스토리보드</a:t>
            </a:r>
            <a:endParaRPr lang="en-US" sz="1120" dirty="0"/>
          </a:p>
        </p:txBody>
      </p:sp>
      <p:sp>
        <p:nvSpPr>
          <p:cNvPr id="18" name="Shape 16"/>
          <p:cNvSpPr/>
          <p:nvPr/>
        </p:nvSpPr>
        <p:spPr>
          <a:xfrm>
            <a:off x="2157984" y="2761488"/>
            <a:ext cx="1426464" cy="822960"/>
          </a:xfrm>
          <a:prstGeom prst="rect">
            <a:avLst/>
          </a:prstGeom>
          <a:solidFill>
            <a:srgbClr val="162441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304288" y="2889504"/>
            <a:ext cx="1207008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산출물 완성</a:t>
            </a:r>
            <a:endParaRPr lang="en-US" sz="1120" dirty="0"/>
          </a:p>
        </p:txBody>
      </p:sp>
      <p:sp>
        <p:nvSpPr>
          <p:cNvPr id="20" name="Shape 18"/>
          <p:cNvSpPr/>
          <p:nvPr/>
        </p:nvSpPr>
        <p:spPr>
          <a:xfrm>
            <a:off x="475488" y="4096512"/>
            <a:ext cx="7296912" cy="512064"/>
          </a:xfrm>
          <a:prstGeom prst="rect">
            <a:avLst/>
          </a:prstGeom>
          <a:solidFill>
            <a:srgbClr val="111B33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3504" y="4206240"/>
            <a:ext cx="7680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FF6B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강사 포인트</a:t>
            </a:r>
            <a:endParaRPr lang="en-US" sz="930" dirty="0"/>
          </a:p>
        </p:txBody>
      </p:sp>
      <p:sp>
        <p:nvSpPr>
          <p:cNvPr id="22" name="Text 20"/>
          <p:cNvSpPr/>
          <p:nvPr/>
        </p:nvSpPr>
        <p:spPr>
          <a:xfrm>
            <a:off x="1499616" y="4169664"/>
            <a:ext cx="5998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AAB7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단순 생성보다 ‘비교와 개선’을 핵심 학습 행위로 안내한다.</a:t>
            </a:r>
            <a:endParaRPr lang="en-US" sz="960" dirty="0"/>
          </a:p>
        </p:txBody>
      </p:sp>
      <p:sp>
        <p:nvSpPr>
          <p:cNvPr id="23" name="Text 21"/>
          <p:cNvSpPr/>
          <p:nvPr/>
        </p:nvSpPr>
        <p:spPr>
          <a:xfrm rot="5400000">
            <a:off x="8119872" y="109728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C72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Afternoon Lab</a:t>
            </a:r>
            <a:endParaRPr lang="en-US" sz="11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201168"/>
            <a:ext cx="8631936" cy="4736592"/>
          </a:xfrm>
          <a:prstGeom prst="rect">
            <a:avLst/>
          </a:prstGeom>
          <a:solidFill>
            <a:srgbClr val="10182D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73568" y="201168"/>
            <a:ext cx="914400" cy="4736592"/>
          </a:xfrm>
          <a:prstGeom prst="rect">
            <a:avLst/>
          </a:prstGeom>
          <a:solidFill>
            <a:srgbClr val="0F1E38"/>
          </a:solidFill>
          <a:ln w="6350">
            <a:solidFill>
              <a:srgbClr val="2A36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310896"/>
            <a:ext cx="768096" cy="182880"/>
          </a:xfrm>
          <a:prstGeom prst="rect">
            <a:avLst/>
          </a:prstGeom>
          <a:solidFill>
            <a:srgbClr val="17304D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1D9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오후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8156448" y="310896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AB7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23 / 40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603504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41D9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ROADMAP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822960"/>
            <a:ext cx="7040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오후 실습 로드맵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475488" y="1426464"/>
            <a:ext cx="3794760" cy="2505456"/>
          </a:xfrm>
          <a:prstGeom prst="rect">
            <a:avLst/>
          </a:prstGeom>
          <a:solidFill>
            <a:srgbClr val="121A30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98848" y="1426464"/>
            <a:ext cx="3273552" cy="2505456"/>
          </a:xfrm>
          <a:prstGeom prst="rect">
            <a:avLst/>
          </a:prstGeom>
          <a:solidFill>
            <a:srgbClr val="121A30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591056"/>
            <a:ext cx="3456432" cy="21762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342900" indent="-342900">
              <a:buSzPct val="100000"/>
              <a:buChar char="•"/>
            </a:pPr>
            <a:r>
              <a:rPr lang="en-US" sz="131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파라미터 이해, 장면 설계, 개별 실습, 리뷰와 수정의 네 단계로 진행한다.</a:t>
            </a:r>
            <a:endParaRPr lang="en-US" sz="1310" dirty="0"/>
          </a:p>
          <a:p>
            <a:pPr marL="342900" indent="-342900">
              <a:buSzPct val="100000"/>
              <a:buChar char="•"/>
            </a:pPr>
            <a:r>
              <a:rPr lang="en-US" sz="131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실습 중간에 짧은 리뷰 포인트를 끼워 넣어 시행착오를 빨리 줄인다.</a:t>
            </a:r>
            <a:endParaRPr lang="en-US" sz="1310" dirty="0"/>
          </a:p>
          <a:p>
            <a:pPr marL="342900" indent="-342900">
              <a:buSzPct val="100000"/>
              <a:buChar char="•"/>
            </a:pPr>
            <a:r>
              <a:rPr lang="en-US" sz="131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마지막 2~3장은 결과 점검과 제출 요건 확인에 사용한다.</a:t>
            </a:r>
            <a:endParaRPr lang="en-US" sz="1310" dirty="0"/>
          </a:p>
        </p:txBody>
      </p:sp>
      <p:sp>
        <p:nvSpPr>
          <p:cNvPr id="11" name="Text 9"/>
          <p:cNvSpPr/>
          <p:nvPr/>
        </p:nvSpPr>
        <p:spPr>
          <a:xfrm>
            <a:off x="4645152" y="1572768"/>
            <a:ext cx="2962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AB7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4단계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645152" y="1828800"/>
            <a:ext cx="658368" cy="822960"/>
          </a:xfrm>
          <a:prstGeom prst="rect">
            <a:avLst/>
          </a:prstGeom>
          <a:solidFill>
            <a:srgbClr val="162441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91456" y="1956816"/>
            <a:ext cx="438912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파라미터</a:t>
            </a:r>
            <a:endParaRPr lang="en-US" sz="1120" dirty="0"/>
          </a:p>
        </p:txBody>
      </p:sp>
      <p:sp>
        <p:nvSpPr>
          <p:cNvPr id="14" name="Shape 12"/>
          <p:cNvSpPr/>
          <p:nvPr/>
        </p:nvSpPr>
        <p:spPr>
          <a:xfrm>
            <a:off x="5413248" y="1828800"/>
            <a:ext cx="658368" cy="822960"/>
          </a:xfrm>
          <a:prstGeom prst="rect">
            <a:avLst/>
          </a:prstGeom>
          <a:solidFill>
            <a:srgbClr val="162441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59552" y="1956816"/>
            <a:ext cx="438912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스토리보드</a:t>
            </a:r>
            <a:endParaRPr lang="en-US" sz="1120" dirty="0"/>
          </a:p>
        </p:txBody>
      </p:sp>
      <p:sp>
        <p:nvSpPr>
          <p:cNvPr id="16" name="Shape 14"/>
          <p:cNvSpPr/>
          <p:nvPr/>
        </p:nvSpPr>
        <p:spPr>
          <a:xfrm>
            <a:off x="6181344" y="1828800"/>
            <a:ext cx="658368" cy="822960"/>
          </a:xfrm>
          <a:prstGeom prst="rect">
            <a:avLst/>
          </a:prstGeom>
          <a:solidFill>
            <a:srgbClr val="162441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27648" y="1956816"/>
            <a:ext cx="438912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제작</a:t>
            </a:r>
            <a:endParaRPr lang="en-US" sz="1120" dirty="0"/>
          </a:p>
        </p:txBody>
      </p:sp>
      <p:sp>
        <p:nvSpPr>
          <p:cNvPr id="18" name="Shape 16"/>
          <p:cNvSpPr/>
          <p:nvPr/>
        </p:nvSpPr>
        <p:spPr>
          <a:xfrm>
            <a:off x="6949440" y="1828800"/>
            <a:ext cx="658368" cy="822960"/>
          </a:xfrm>
          <a:prstGeom prst="rect">
            <a:avLst/>
          </a:prstGeom>
          <a:solidFill>
            <a:srgbClr val="162441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95744" y="1956816"/>
            <a:ext cx="438912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리뷰/수정</a:t>
            </a:r>
            <a:endParaRPr lang="en-US" sz="1120" dirty="0"/>
          </a:p>
        </p:txBody>
      </p:sp>
      <p:sp>
        <p:nvSpPr>
          <p:cNvPr id="20" name="Shape 18"/>
          <p:cNvSpPr/>
          <p:nvPr/>
        </p:nvSpPr>
        <p:spPr>
          <a:xfrm>
            <a:off x="475488" y="4096512"/>
            <a:ext cx="7296912" cy="512064"/>
          </a:xfrm>
          <a:prstGeom prst="rect">
            <a:avLst/>
          </a:prstGeom>
          <a:solidFill>
            <a:srgbClr val="111B33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3504" y="4206240"/>
            <a:ext cx="7680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FF6B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강사 포인트</a:t>
            </a:r>
            <a:endParaRPr lang="en-US" sz="930" dirty="0"/>
          </a:p>
        </p:txBody>
      </p:sp>
      <p:sp>
        <p:nvSpPr>
          <p:cNvPr id="22" name="Text 20"/>
          <p:cNvSpPr/>
          <p:nvPr/>
        </p:nvSpPr>
        <p:spPr>
          <a:xfrm>
            <a:off x="1499616" y="4169664"/>
            <a:ext cx="5998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AAB7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학습자들이 중간에 길을 잃지 않도록 리뷰 시점을 미리 알려 준다.</a:t>
            </a:r>
            <a:endParaRPr lang="en-US" sz="960" dirty="0"/>
          </a:p>
        </p:txBody>
      </p:sp>
      <p:sp>
        <p:nvSpPr>
          <p:cNvPr id="23" name="Text 21"/>
          <p:cNvSpPr/>
          <p:nvPr/>
        </p:nvSpPr>
        <p:spPr>
          <a:xfrm rot="5400000">
            <a:off x="8119872" y="109728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1D9E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Afternoon Lab</a:t>
            </a:r>
            <a:endParaRPr lang="en-US" sz="11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201168"/>
            <a:ext cx="8631936" cy="4736592"/>
          </a:xfrm>
          <a:prstGeom prst="rect">
            <a:avLst/>
          </a:prstGeom>
          <a:solidFill>
            <a:srgbClr val="10182D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73568" y="201168"/>
            <a:ext cx="914400" cy="4736592"/>
          </a:xfrm>
          <a:prstGeom prst="rect">
            <a:avLst/>
          </a:prstGeom>
          <a:solidFill>
            <a:srgbClr val="132347"/>
          </a:solidFill>
          <a:ln w="6350">
            <a:solidFill>
              <a:srgbClr val="2A36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310896"/>
            <a:ext cx="768096" cy="182880"/>
          </a:xfrm>
          <a:prstGeom prst="rect">
            <a:avLst/>
          </a:prstGeom>
          <a:solidFill>
            <a:srgbClr val="17304D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1D9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오후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8156448" y="310896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AB7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 / 40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603504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41D9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CFG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822960"/>
            <a:ext cx="7040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CFG의 역할: 조건 충실도와 자유도의 균형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4498848" y="1426464"/>
            <a:ext cx="3794760" cy="2505456"/>
          </a:xfrm>
          <a:prstGeom prst="rect">
            <a:avLst/>
          </a:prstGeom>
          <a:solidFill>
            <a:srgbClr val="121A30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" y="1426464"/>
            <a:ext cx="3273552" cy="2505456"/>
          </a:xfrm>
          <a:prstGeom prst="rect">
            <a:avLst/>
          </a:prstGeom>
          <a:solidFill>
            <a:srgbClr val="121A30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1591056"/>
            <a:ext cx="3456432" cy="21762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342900" indent="-342900">
              <a:buSzPct val="100000"/>
              <a:buChar char="•"/>
            </a:pPr>
            <a:r>
              <a:rPr lang="en-US" sz="131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CFG 값이 높을수록 프롬프트 조건을 강하게 따르려는 경향이 생긴다.</a:t>
            </a:r>
            <a:endParaRPr lang="en-US" sz="1310" dirty="0"/>
          </a:p>
          <a:p>
            <a:pPr marL="342900" indent="-342900">
              <a:buSzPct val="100000"/>
              <a:buChar char="•"/>
            </a:pPr>
            <a:r>
              <a:rPr lang="en-US" sz="131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너무 높으면 경직된 결과나 아티팩트가 생길 수 있고, 너무 낮으면 의도가 흐려질 수 있다.</a:t>
            </a:r>
            <a:endParaRPr lang="en-US" sz="1310" dirty="0"/>
          </a:p>
          <a:p>
            <a:pPr marL="342900" indent="-342900">
              <a:buSzPct val="100000"/>
              <a:buChar char="•"/>
            </a:pPr>
            <a:r>
              <a:rPr lang="en-US" sz="131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홍보 영상은 제품 메시지를 유지해야 하므로 과도한 자유도보다 통제 가능한 범위를 찾는 것이 중요하다.</a:t>
            </a:r>
            <a:endParaRPr lang="en-US" sz="1310" dirty="0"/>
          </a:p>
        </p:txBody>
      </p:sp>
      <p:sp>
        <p:nvSpPr>
          <p:cNvPr id="11" name="Text 9"/>
          <p:cNvSpPr/>
          <p:nvPr/>
        </p:nvSpPr>
        <p:spPr>
          <a:xfrm>
            <a:off x="621792" y="1572768"/>
            <a:ext cx="2962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AB7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CFG 해석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21792" y="1828800"/>
            <a:ext cx="1417320" cy="1901952"/>
          </a:xfrm>
          <a:prstGeom prst="rect">
            <a:avLst/>
          </a:prstGeom>
          <a:solidFill>
            <a:srgbClr val="162441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1920240"/>
            <a:ext cx="1197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1D9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낮은 CFG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49808" y="2176272"/>
            <a:ext cx="1197864" cy="14813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342900" indent="-342900">
              <a:buSzPct val="100000"/>
              <a:buChar char="•"/>
            </a:pPr>
            <a:r>
              <a:rPr lang="en-US" sz="1120" dirty="0">
                <a:solidFill>
                  <a:srgbClr val="AAB7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자유도 높음</a:t>
            </a:r>
            <a:endParaRPr lang="en-US" sz="1120" dirty="0"/>
          </a:p>
          <a:p>
            <a:pPr marL="342900" indent="-342900">
              <a:buSzPct val="100000"/>
              <a:buChar char="•"/>
            </a:pPr>
            <a:r>
              <a:rPr lang="en-US" sz="1120" dirty="0">
                <a:solidFill>
                  <a:srgbClr val="AAB7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메시지 약화</a:t>
            </a:r>
            <a:endParaRPr lang="en-US" sz="1120" dirty="0"/>
          </a:p>
          <a:p>
            <a:pPr marL="342900" indent="-342900">
              <a:buSzPct val="100000"/>
              <a:buChar char="•"/>
            </a:pPr>
            <a:r>
              <a:rPr lang="en-US" sz="1120" dirty="0">
                <a:solidFill>
                  <a:srgbClr val="AAB7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예측 어려움</a:t>
            </a:r>
            <a:endParaRPr lang="en-US" sz="1120" dirty="0"/>
          </a:p>
        </p:txBody>
      </p:sp>
      <p:sp>
        <p:nvSpPr>
          <p:cNvPr id="15" name="Shape 13"/>
          <p:cNvSpPr/>
          <p:nvPr/>
        </p:nvSpPr>
        <p:spPr>
          <a:xfrm>
            <a:off x="2167128" y="1828800"/>
            <a:ext cx="1417320" cy="1901952"/>
          </a:xfrm>
          <a:prstGeom prst="rect">
            <a:avLst/>
          </a:prstGeom>
          <a:solidFill>
            <a:srgbClr val="162441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76856" y="1920240"/>
            <a:ext cx="1197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1D9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높은 CFG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295144" y="2176272"/>
            <a:ext cx="1197864" cy="14813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342900" indent="-342900">
              <a:buSzPct val="100000"/>
              <a:buChar char="•"/>
            </a:pPr>
            <a:r>
              <a:rPr lang="en-US" sz="1120" dirty="0">
                <a:solidFill>
                  <a:srgbClr val="AAB7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조건 충실</a:t>
            </a:r>
            <a:endParaRPr lang="en-US" sz="1120" dirty="0"/>
          </a:p>
          <a:p>
            <a:pPr marL="342900" indent="-342900">
              <a:buSzPct val="100000"/>
              <a:buChar char="•"/>
            </a:pPr>
            <a:r>
              <a:rPr lang="en-US" sz="1120" dirty="0">
                <a:solidFill>
                  <a:srgbClr val="AAB7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표현 경직 가능</a:t>
            </a:r>
            <a:endParaRPr lang="en-US" sz="1120" dirty="0"/>
          </a:p>
          <a:p>
            <a:pPr marL="342900" indent="-342900">
              <a:buSzPct val="100000"/>
              <a:buChar char="•"/>
            </a:pPr>
            <a:r>
              <a:rPr lang="en-US" sz="1120" dirty="0">
                <a:solidFill>
                  <a:srgbClr val="AAB7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브랜드 통제 용이</a:t>
            </a:r>
            <a:endParaRPr lang="en-US" sz="1120" dirty="0"/>
          </a:p>
        </p:txBody>
      </p:sp>
      <p:sp>
        <p:nvSpPr>
          <p:cNvPr id="18" name="Shape 16"/>
          <p:cNvSpPr/>
          <p:nvPr/>
        </p:nvSpPr>
        <p:spPr>
          <a:xfrm>
            <a:off x="475488" y="4096512"/>
            <a:ext cx="7296912" cy="512064"/>
          </a:xfrm>
          <a:prstGeom prst="rect">
            <a:avLst/>
          </a:prstGeom>
          <a:solidFill>
            <a:srgbClr val="111B33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3504" y="4206240"/>
            <a:ext cx="7680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FF6B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강사 포인트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1499616" y="4169664"/>
            <a:ext cx="5998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AAB7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숫자 자체를 외우게 하기보다 출력 성향을 읽게 만드는 것이 핵심이다.</a:t>
            </a:r>
            <a:endParaRPr lang="en-US" sz="960" dirty="0"/>
          </a:p>
        </p:txBody>
      </p:sp>
      <p:sp>
        <p:nvSpPr>
          <p:cNvPr id="21" name="Text 19"/>
          <p:cNvSpPr/>
          <p:nvPr/>
        </p:nvSpPr>
        <p:spPr>
          <a:xfrm rot="5400000">
            <a:off x="8119872" y="109728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C72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Afternoon Lab</a:t>
            </a:r>
            <a:endParaRPr lang="en-US" sz="11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201168"/>
            <a:ext cx="8631936" cy="4736592"/>
          </a:xfrm>
          <a:prstGeom prst="rect">
            <a:avLst/>
          </a:prstGeom>
          <a:solidFill>
            <a:srgbClr val="10182D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73568" y="201168"/>
            <a:ext cx="914400" cy="4736592"/>
          </a:xfrm>
          <a:prstGeom prst="rect">
            <a:avLst/>
          </a:prstGeom>
          <a:solidFill>
            <a:srgbClr val="0F1E38"/>
          </a:solidFill>
          <a:ln w="6350">
            <a:solidFill>
              <a:srgbClr val="2A36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310896"/>
            <a:ext cx="768096" cy="182880"/>
          </a:xfrm>
          <a:prstGeom prst="rect">
            <a:avLst/>
          </a:prstGeom>
          <a:solidFill>
            <a:srgbClr val="17304D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1D9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오후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8156448" y="310896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AB7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 / 40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603504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41D9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SAMPLER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822960"/>
            <a:ext cx="7040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샘플러는 결과의 성격을 바꾼다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475488" y="1426464"/>
            <a:ext cx="3794760" cy="2505456"/>
          </a:xfrm>
          <a:prstGeom prst="rect">
            <a:avLst/>
          </a:prstGeom>
          <a:solidFill>
            <a:srgbClr val="121A30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98848" y="1426464"/>
            <a:ext cx="3273552" cy="2505456"/>
          </a:xfrm>
          <a:prstGeom prst="rect">
            <a:avLst/>
          </a:prstGeom>
          <a:solidFill>
            <a:srgbClr val="121A30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591056"/>
            <a:ext cx="3456432" cy="21762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342900" indent="-342900">
              <a:buSzPct val="100000"/>
              <a:buChar char="•"/>
            </a:pPr>
            <a:r>
              <a:rPr lang="en-US" sz="131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샘플러는 노이즈를 제거하는 경로와 속도에 영향을 준다.</a:t>
            </a:r>
            <a:endParaRPr lang="en-US" sz="1310" dirty="0"/>
          </a:p>
          <a:p>
            <a:pPr marL="342900" indent="-342900">
              <a:buSzPct val="100000"/>
              <a:buChar char="•"/>
            </a:pPr>
            <a:r>
              <a:rPr lang="en-US" sz="131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같은 프롬프트라도 샘플러에 따라 선명도, 안정성, 디테일 표현이 달라질 수 있다.</a:t>
            </a:r>
            <a:endParaRPr lang="en-US" sz="1310" dirty="0"/>
          </a:p>
          <a:p>
            <a:pPr marL="342900" indent="-342900">
              <a:buSzPct val="100000"/>
              <a:buChar char="•"/>
            </a:pPr>
            <a:r>
              <a:rPr lang="en-US" sz="131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실무에서는 한 번에 정답을 찾기보다 후보 2~3개를 비교해 기준을 정하는 방식이 효율적이다.</a:t>
            </a:r>
            <a:endParaRPr lang="en-US" sz="1310" dirty="0"/>
          </a:p>
        </p:txBody>
      </p:sp>
      <p:sp>
        <p:nvSpPr>
          <p:cNvPr id="11" name="Text 9"/>
          <p:cNvSpPr/>
          <p:nvPr/>
        </p:nvSpPr>
        <p:spPr>
          <a:xfrm>
            <a:off x="4645152" y="1572768"/>
            <a:ext cx="2962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AB7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비교 프레임</a:t>
            </a:r>
            <a:endParaRPr lang="en-US" sz="95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45152" y="1828800"/>
          <a:ext cx="2962656" cy="1901952"/>
        </p:xfrm>
        <a:graphic>
          <a:graphicData uri="http://schemas.openxmlformats.org/drawingml/2006/table">
            <a:tbl>
              <a:tblPr/>
              <a:tblGrid>
                <a:gridCol w="1125809"/>
                <a:gridCol w="1836847"/>
              </a:tblGrid>
              <a:tr h="6339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5F7F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Sampler A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5F7F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안정적 / 보수적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41"/>
                    </a:solidFill>
                  </a:tcPr>
                </a:tc>
              </a:tr>
              <a:tr h="6339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5F7F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Sampler B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5F7F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디테일 / 표현력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41"/>
                    </a:solidFill>
                  </a:tcPr>
                </a:tc>
              </a:tr>
              <a:tr h="6339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5F7F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Sampler C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5F7F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속도 / 실험용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41"/>
                    </a:solidFill>
                  </a:tcPr>
                </a:tc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475488" y="4096512"/>
            <a:ext cx="7296912" cy="512064"/>
          </a:xfrm>
          <a:prstGeom prst="rect">
            <a:avLst/>
          </a:prstGeom>
          <a:solidFill>
            <a:srgbClr val="111B33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3504" y="4206240"/>
            <a:ext cx="7680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FF6B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강사 포인트</a:t>
            </a:r>
            <a:endParaRPr lang="en-US" sz="930" dirty="0"/>
          </a:p>
        </p:txBody>
      </p:sp>
      <p:sp>
        <p:nvSpPr>
          <p:cNvPr id="15" name="Text 12"/>
          <p:cNvSpPr/>
          <p:nvPr/>
        </p:nvSpPr>
        <p:spPr>
          <a:xfrm>
            <a:off x="1499616" y="4169664"/>
            <a:ext cx="5998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AAB7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샘플러 이름 암기보다 ‘출력 성향 분류표’를 만드는 방식으로 학습시키면 실무 전환이 쉽다.</a:t>
            </a:r>
            <a:endParaRPr lang="en-US" sz="960" dirty="0"/>
          </a:p>
        </p:txBody>
      </p:sp>
      <p:sp>
        <p:nvSpPr>
          <p:cNvPr id="16" name="Text 13"/>
          <p:cNvSpPr/>
          <p:nvPr/>
        </p:nvSpPr>
        <p:spPr>
          <a:xfrm rot="5400000">
            <a:off x="8119872" y="109728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1D9E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Afternoon Lab</a:t>
            </a:r>
            <a:endParaRPr lang="en-US" sz="11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201168"/>
            <a:ext cx="8631936" cy="4736592"/>
          </a:xfrm>
          <a:prstGeom prst="rect">
            <a:avLst/>
          </a:prstGeom>
          <a:solidFill>
            <a:srgbClr val="10182D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73568" y="201168"/>
            <a:ext cx="914400" cy="4736592"/>
          </a:xfrm>
          <a:prstGeom prst="rect">
            <a:avLst/>
          </a:prstGeom>
          <a:solidFill>
            <a:srgbClr val="132347"/>
          </a:solidFill>
          <a:ln w="6350">
            <a:solidFill>
              <a:srgbClr val="2A36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310896"/>
            <a:ext cx="768096" cy="182880"/>
          </a:xfrm>
          <a:prstGeom prst="rect">
            <a:avLst/>
          </a:prstGeom>
          <a:solidFill>
            <a:srgbClr val="17304D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1D9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오후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8156448" y="310896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AB7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26 / 40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603504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41D9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 REFINEMENT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822960"/>
            <a:ext cx="7040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프롬프트와 네거티브 프롬프트 고도화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4498848" y="1426464"/>
            <a:ext cx="3794760" cy="2505456"/>
          </a:xfrm>
          <a:prstGeom prst="rect">
            <a:avLst/>
          </a:prstGeom>
          <a:solidFill>
            <a:srgbClr val="121A30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" y="1426464"/>
            <a:ext cx="3273552" cy="2505456"/>
          </a:xfrm>
          <a:prstGeom prst="rect">
            <a:avLst/>
          </a:prstGeom>
          <a:solidFill>
            <a:srgbClr val="121A30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1591056"/>
            <a:ext cx="3456432" cy="21762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342900" indent="-342900">
              <a:buSzPct val="100000"/>
              <a:buChar char="•"/>
            </a:pPr>
            <a:r>
              <a:rPr lang="en-US" sz="131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핵심 장면을 강화하는 문구와 제거해야 할 오류 요소를 분리해서 관리한다.</a:t>
            </a:r>
            <a:endParaRPr lang="en-US" sz="1310" dirty="0"/>
          </a:p>
          <a:p>
            <a:pPr marL="342900" indent="-342900">
              <a:buSzPct val="100000"/>
              <a:buChar char="•"/>
            </a:pPr>
            <a:r>
              <a:rPr lang="en-US" sz="131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네거티브 프롬프트는 흔들림, 왜곡, 저품질 디테일 같은 실패 패턴을 줄이는 데 유용하다.</a:t>
            </a:r>
            <a:endParaRPr lang="en-US" sz="1310" dirty="0"/>
          </a:p>
          <a:p>
            <a:pPr marL="342900" indent="-342900">
              <a:buSzPct val="100000"/>
              <a:buChar char="•"/>
            </a:pPr>
            <a:r>
              <a:rPr lang="en-US" sz="131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팀 수업에서는 잘 먹힌 문구를 공유 리스트로 남기면 반복 학습 효과가 커진다.</a:t>
            </a:r>
            <a:endParaRPr lang="en-US" sz="1310" dirty="0"/>
          </a:p>
        </p:txBody>
      </p:sp>
      <p:sp>
        <p:nvSpPr>
          <p:cNvPr id="11" name="Text 9"/>
          <p:cNvSpPr/>
          <p:nvPr/>
        </p:nvSpPr>
        <p:spPr>
          <a:xfrm>
            <a:off x="621792" y="1572768"/>
            <a:ext cx="2962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AB7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프롬프트 구조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21792" y="1828800"/>
            <a:ext cx="1417320" cy="1901952"/>
          </a:xfrm>
          <a:prstGeom prst="rect">
            <a:avLst/>
          </a:prstGeom>
          <a:solidFill>
            <a:srgbClr val="162441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1920240"/>
            <a:ext cx="1197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1D9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Positive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49808" y="2176272"/>
            <a:ext cx="1197864" cy="14813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342900" indent="-342900">
              <a:buSzPct val="100000"/>
              <a:buChar char="•"/>
            </a:pPr>
            <a:r>
              <a:rPr lang="en-US" sz="1120" dirty="0">
                <a:solidFill>
                  <a:srgbClr val="AAB7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제품 메시지</a:t>
            </a:r>
            <a:endParaRPr lang="en-US" sz="1120" dirty="0"/>
          </a:p>
          <a:p>
            <a:pPr marL="342900" indent="-342900">
              <a:buSzPct val="100000"/>
              <a:buChar char="•"/>
            </a:pPr>
            <a:r>
              <a:rPr lang="en-US" sz="1120" dirty="0">
                <a:solidFill>
                  <a:srgbClr val="AAB7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카메라 무드</a:t>
            </a:r>
            <a:endParaRPr lang="en-US" sz="1120" dirty="0"/>
          </a:p>
          <a:p>
            <a:pPr marL="342900" indent="-342900">
              <a:buSzPct val="100000"/>
              <a:buChar char="•"/>
            </a:pPr>
            <a:r>
              <a:rPr lang="en-US" sz="1120" dirty="0">
                <a:solidFill>
                  <a:srgbClr val="AAB7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조명/브랜드 톤</a:t>
            </a:r>
            <a:endParaRPr lang="en-US" sz="1120" dirty="0"/>
          </a:p>
        </p:txBody>
      </p:sp>
      <p:sp>
        <p:nvSpPr>
          <p:cNvPr id="15" name="Shape 13"/>
          <p:cNvSpPr/>
          <p:nvPr/>
        </p:nvSpPr>
        <p:spPr>
          <a:xfrm>
            <a:off x="2167128" y="1828800"/>
            <a:ext cx="1417320" cy="1901952"/>
          </a:xfrm>
          <a:prstGeom prst="rect">
            <a:avLst/>
          </a:prstGeom>
          <a:solidFill>
            <a:srgbClr val="162441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76856" y="1920240"/>
            <a:ext cx="1197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1D9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Negative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295144" y="2176272"/>
            <a:ext cx="1197864" cy="14813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342900" indent="-342900">
              <a:buSzPct val="100000"/>
              <a:buChar char="•"/>
            </a:pPr>
            <a:r>
              <a:rPr lang="en-US" sz="1120" dirty="0">
                <a:solidFill>
                  <a:srgbClr val="AAB7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왜곡</a:t>
            </a:r>
            <a:endParaRPr lang="en-US" sz="1120" dirty="0"/>
          </a:p>
          <a:p>
            <a:pPr marL="342900" indent="-342900">
              <a:buSzPct val="100000"/>
              <a:buChar char="•"/>
            </a:pPr>
            <a:r>
              <a:rPr lang="en-US" sz="1120" dirty="0">
                <a:solidFill>
                  <a:srgbClr val="AAB7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프레임 붕괴</a:t>
            </a:r>
            <a:endParaRPr lang="en-US" sz="1120" dirty="0"/>
          </a:p>
          <a:p>
            <a:pPr marL="342900" indent="-342900">
              <a:buSzPct val="100000"/>
              <a:buChar char="•"/>
            </a:pPr>
            <a:r>
              <a:rPr lang="en-US" sz="1120" dirty="0">
                <a:solidFill>
                  <a:srgbClr val="AAB7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저해상도 느낌</a:t>
            </a:r>
            <a:endParaRPr lang="en-US" sz="1120" dirty="0"/>
          </a:p>
        </p:txBody>
      </p:sp>
      <p:sp>
        <p:nvSpPr>
          <p:cNvPr id="18" name="Shape 16"/>
          <p:cNvSpPr/>
          <p:nvPr/>
        </p:nvSpPr>
        <p:spPr>
          <a:xfrm>
            <a:off x="475488" y="4096512"/>
            <a:ext cx="7296912" cy="512064"/>
          </a:xfrm>
          <a:prstGeom prst="rect">
            <a:avLst/>
          </a:prstGeom>
          <a:solidFill>
            <a:srgbClr val="111B33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3504" y="4206240"/>
            <a:ext cx="7680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FF6B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강사 포인트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1499616" y="4169664"/>
            <a:ext cx="5998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AAB7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좋은 문장을 쓰는 것보다 실패를 줄이는 금지어 관리가 더 중요할 때가 많다고 설명한다.</a:t>
            </a:r>
            <a:endParaRPr lang="en-US" sz="960" dirty="0"/>
          </a:p>
        </p:txBody>
      </p:sp>
      <p:sp>
        <p:nvSpPr>
          <p:cNvPr id="21" name="Text 19"/>
          <p:cNvSpPr/>
          <p:nvPr/>
        </p:nvSpPr>
        <p:spPr>
          <a:xfrm rot="5400000">
            <a:off x="8119872" y="109728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C72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Afternoon Lab</a:t>
            </a:r>
            <a:endParaRPr lang="en-US" sz="11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201168"/>
            <a:ext cx="8631936" cy="4736592"/>
          </a:xfrm>
          <a:prstGeom prst="rect">
            <a:avLst/>
          </a:prstGeom>
          <a:solidFill>
            <a:srgbClr val="10182D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73568" y="201168"/>
            <a:ext cx="914400" cy="4736592"/>
          </a:xfrm>
          <a:prstGeom prst="rect">
            <a:avLst/>
          </a:prstGeom>
          <a:solidFill>
            <a:srgbClr val="0F1E38"/>
          </a:solidFill>
          <a:ln w="6350">
            <a:solidFill>
              <a:srgbClr val="2A36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310896"/>
            <a:ext cx="768096" cy="182880"/>
          </a:xfrm>
          <a:prstGeom prst="rect">
            <a:avLst/>
          </a:prstGeom>
          <a:solidFill>
            <a:srgbClr val="17304D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1D9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오후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8156448" y="310896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AB7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27 / 40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603504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41D9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822960"/>
            <a:ext cx="7040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움직임을 설계해야 영상이 산다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475488" y="1426464"/>
            <a:ext cx="3794760" cy="2505456"/>
          </a:xfrm>
          <a:prstGeom prst="rect">
            <a:avLst/>
          </a:prstGeom>
          <a:solidFill>
            <a:srgbClr val="121A30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98848" y="1426464"/>
            <a:ext cx="3273552" cy="2505456"/>
          </a:xfrm>
          <a:prstGeom prst="rect">
            <a:avLst/>
          </a:prstGeom>
          <a:solidFill>
            <a:srgbClr val="121A30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591056"/>
            <a:ext cx="3456432" cy="21762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342900" indent="-342900">
              <a:buSzPct val="100000"/>
              <a:buChar char="•"/>
            </a:pPr>
            <a:r>
              <a:rPr lang="en-US" sz="131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카메라 이동과 피사체 동작을 동시에 과도하게 주면 결과가 불안정해진다.</a:t>
            </a:r>
            <a:endParaRPr lang="en-US" sz="1310" dirty="0"/>
          </a:p>
          <a:p>
            <a:pPr marL="342900" indent="-342900">
              <a:buSzPct val="100000"/>
              <a:buChar char="•"/>
            </a:pPr>
            <a:r>
              <a:rPr lang="en-US" sz="131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처음에는 한 장면에 한 개의 주된 움직임만 설정하는 것이 안전하다.</a:t>
            </a:r>
            <a:endParaRPr lang="en-US" sz="1310" dirty="0"/>
          </a:p>
          <a:p>
            <a:pPr marL="342900" indent="-342900">
              <a:buSzPct val="100000"/>
              <a:buChar char="•"/>
            </a:pPr>
            <a:r>
              <a:rPr lang="en-US" sz="131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홍보 영상은 보여줄 정보가 분명하므로 ‘과한 연출’보다 ‘읽히는 연출’이 중요하다.</a:t>
            </a:r>
            <a:endParaRPr lang="en-US" sz="1310" dirty="0"/>
          </a:p>
        </p:txBody>
      </p:sp>
      <p:sp>
        <p:nvSpPr>
          <p:cNvPr id="11" name="Text 9"/>
          <p:cNvSpPr/>
          <p:nvPr/>
        </p:nvSpPr>
        <p:spPr>
          <a:xfrm>
            <a:off x="4645152" y="1572768"/>
            <a:ext cx="2962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AB7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움직임 설계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645152" y="1828800"/>
            <a:ext cx="658368" cy="822960"/>
          </a:xfrm>
          <a:prstGeom prst="rect">
            <a:avLst/>
          </a:prstGeom>
          <a:solidFill>
            <a:srgbClr val="162441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91456" y="1956816"/>
            <a:ext cx="438912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주체 선정</a:t>
            </a:r>
            <a:endParaRPr lang="en-US" sz="1120" dirty="0"/>
          </a:p>
        </p:txBody>
      </p:sp>
      <p:sp>
        <p:nvSpPr>
          <p:cNvPr id="14" name="Shape 12"/>
          <p:cNvSpPr/>
          <p:nvPr/>
        </p:nvSpPr>
        <p:spPr>
          <a:xfrm>
            <a:off x="5413248" y="1828800"/>
            <a:ext cx="658368" cy="822960"/>
          </a:xfrm>
          <a:prstGeom prst="rect">
            <a:avLst/>
          </a:prstGeom>
          <a:solidFill>
            <a:srgbClr val="162441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59552" y="1956816"/>
            <a:ext cx="438912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주동작 1개</a:t>
            </a:r>
            <a:endParaRPr lang="en-US" sz="1120" dirty="0"/>
          </a:p>
        </p:txBody>
      </p:sp>
      <p:sp>
        <p:nvSpPr>
          <p:cNvPr id="16" name="Shape 14"/>
          <p:cNvSpPr/>
          <p:nvPr/>
        </p:nvSpPr>
        <p:spPr>
          <a:xfrm>
            <a:off x="6181344" y="1828800"/>
            <a:ext cx="658368" cy="822960"/>
          </a:xfrm>
          <a:prstGeom prst="rect">
            <a:avLst/>
          </a:prstGeom>
          <a:solidFill>
            <a:srgbClr val="162441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27648" y="1956816"/>
            <a:ext cx="438912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카메라 1개</a:t>
            </a:r>
            <a:endParaRPr lang="en-US" sz="1120" dirty="0"/>
          </a:p>
        </p:txBody>
      </p:sp>
      <p:sp>
        <p:nvSpPr>
          <p:cNvPr id="18" name="Shape 16"/>
          <p:cNvSpPr/>
          <p:nvPr/>
        </p:nvSpPr>
        <p:spPr>
          <a:xfrm>
            <a:off x="6949440" y="1828800"/>
            <a:ext cx="658368" cy="822960"/>
          </a:xfrm>
          <a:prstGeom prst="rect">
            <a:avLst/>
          </a:prstGeom>
          <a:solidFill>
            <a:srgbClr val="162441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95744" y="1956816"/>
            <a:ext cx="438912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배경 안정화</a:t>
            </a:r>
            <a:endParaRPr lang="en-US" sz="1120" dirty="0"/>
          </a:p>
        </p:txBody>
      </p:sp>
      <p:sp>
        <p:nvSpPr>
          <p:cNvPr id="20" name="Shape 18"/>
          <p:cNvSpPr/>
          <p:nvPr/>
        </p:nvSpPr>
        <p:spPr>
          <a:xfrm>
            <a:off x="475488" y="4096512"/>
            <a:ext cx="7296912" cy="512064"/>
          </a:xfrm>
          <a:prstGeom prst="rect">
            <a:avLst/>
          </a:prstGeom>
          <a:solidFill>
            <a:srgbClr val="111B33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3504" y="4206240"/>
            <a:ext cx="7680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FF6B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강사 포인트</a:t>
            </a:r>
            <a:endParaRPr lang="en-US" sz="930" dirty="0"/>
          </a:p>
        </p:txBody>
      </p:sp>
      <p:sp>
        <p:nvSpPr>
          <p:cNvPr id="22" name="Text 20"/>
          <p:cNvSpPr/>
          <p:nvPr/>
        </p:nvSpPr>
        <p:spPr>
          <a:xfrm>
            <a:off x="1499616" y="4169664"/>
            <a:ext cx="5998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AAB7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실무 영상은 화려함보다 메시지 전달력이 우선이라는 점을 반복해서 상기시킨다.</a:t>
            </a:r>
            <a:endParaRPr lang="en-US" sz="960" dirty="0"/>
          </a:p>
        </p:txBody>
      </p:sp>
      <p:sp>
        <p:nvSpPr>
          <p:cNvPr id="23" name="Text 21"/>
          <p:cNvSpPr/>
          <p:nvPr/>
        </p:nvSpPr>
        <p:spPr>
          <a:xfrm rot="5400000">
            <a:off x="8119872" y="109728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1D9E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Afternoon Lab</a:t>
            </a:r>
            <a:endParaRPr lang="en-US" sz="11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201168"/>
            <a:ext cx="8631936" cy="4736592"/>
          </a:xfrm>
          <a:prstGeom prst="rect">
            <a:avLst/>
          </a:prstGeom>
          <a:solidFill>
            <a:srgbClr val="10182D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73568" y="201168"/>
            <a:ext cx="914400" cy="4736592"/>
          </a:xfrm>
          <a:prstGeom prst="rect">
            <a:avLst/>
          </a:prstGeom>
          <a:solidFill>
            <a:srgbClr val="132347"/>
          </a:solidFill>
          <a:ln w="6350">
            <a:solidFill>
              <a:srgbClr val="2A36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310896"/>
            <a:ext cx="768096" cy="182880"/>
          </a:xfrm>
          <a:prstGeom prst="rect">
            <a:avLst/>
          </a:prstGeom>
          <a:solidFill>
            <a:srgbClr val="17304D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1D9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오후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8156448" y="310896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AB7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28 / 40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603504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41D9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CONSISTENCY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822960"/>
            <a:ext cx="7040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일관성을 높이는 실전 전략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4498848" y="1426464"/>
            <a:ext cx="3794760" cy="2505456"/>
          </a:xfrm>
          <a:prstGeom prst="rect">
            <a:avLst/>
          </a:prstGeom>
          <a:solidFill>
            <a:srgbClr val="121A30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" y="1426464"/>
            <a:ext cx="3273552" cy="2505456"/>
          </a:xfrm>
          <a:prstGeom prst="rect">
            <a:avLst/>
          </a:prstGeom>
          <a:solidFill>
            <a:srgbClr val="121A30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1591056"/>
            <a:ext cx="3456432" cy="21762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342900" indent="-342900">
              <a:buSzPct val="100000"/>
              <a:buChar char="•"/>
            </a:pPr>
            <a:r>
              <a:rPr lang="en-US" sz="131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같은 주체를 유지하려면 참조 이미지, 프롬프트 구조, 시드 전략을 함께 관리해야 한다.</a:t>
            </a:r>
            <a:endParaRPr lang="en-US" sz="1310" dirty="0"/>
          </a:p>
          <a:p>
            <a:pPr marL="342900" indent="-342900">
              <a:buSzPct val="100000"/>
              <a:buChar char="•"/>
            </a:pPr>
            <a:r>
              <a:rPr lang="en-US" sz="131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색감과 조명 톤을 고정하면 장면 간 브랜드 인상이 덜 흔들린다.</a:t>
            </a:r>
            <a:endParaRPr lang="en-US" sz="1310" dirty="0"/>
          </a:p>
          <a:p>
            <a:pPr marL="342900" indent="-342900">
              <a:buSzPct val="100000"/>
              <a:buChar char="•"/>
            </a:pPr>
            <a:r>
              <a:rPr lang="en-US" sz="131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짧은 장면 여러 개를 만들더라도 공통 스타일 문장을 유지하는 것이 중요하다.</a:t>
            </a:r>
            <a:endParaRPr lang="en-US" sz="1310" dirty="0"/>
          </a:p>
        </p:txBody>
      </p:sp>
      <p:sp>
        <p:nvSpPr>
          <p:cNvPr id="11" name="Text 9"/>
          <p:cNvSpPr/>
          <p:nvPr/>
        </p:nvSpPr>
        <p:spPr>
          <a:xfrm>
            <a:off x="621792" y="1572768"/>
            <a:ext cx="2962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AB7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일관성 레버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21792" y="1828800"/>
            <a:ext cx="1426464" cy="822960"/>
          </a:xfrm>
          <a:prstGeom prst="rect">
            <a:avLst/>
          </a:prstGeom>
          <a:solidFill>
            <a:srgbClr val="162441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8096" y="1956816"/>
            <a:ext cx="1207008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참조 이미지</a:t>
            </a:r>
            <a:endParaRPr lang="en-US" sz="1120" dirty="0"/>
          </a:p>
        </p:txBody>
      </p:sp>
      <p:sp>
        <p:nvSpPr>
          <p:cNvPr id="14" name="Shape 12"/>
          <p:cNvSpPr/>
          <p:nvPr/>
        </p:nvSpPr>
        <p:spPr>
          <a:xfrm>
            <a:off x="2157984" y="1828800"/>
            <a:ext cx="1426464" cy="822960"/>
          </a:xfrm>
          <a:prstGeom prst="rect">
            <a:avLst/>
          </a:prstGeom>
          <a:solidFill>
            <a:srgbClr val="162441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304288" y="1956816"/>
            <a:ext cx="1207008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공통 시드</a:t>
            </a:r>
            <a:endParaRPr lang="en-US" sz="1120" dirty="0"/>
          </a:p>
        </p:txBody>
      </p:sp>
      <p:sp>
        <p:nvSpPr>
          <p:cNvPr id="16" name="Shape 14"/>
          <p:cNvSpPr/>
          <p:nvPr/>
        </p:nvSpPr>
        <p:spPr>
          <a:xfrm>
            <a:off x="621792" y="2761488"/>
            <a:ext cx="1426464" cy="822960"/>
          </a:xfrm>
          <a:prstGeom prst="rect">
            <a:avLst/>
          </a:prstGeom>
          <a:solidFill>
            <a:srgbClr val="162441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8096" y="2889504"/>
            <a:ext cx="1207008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색감 통일</a:t>
            </a:r>
            <a:endParaRPr lang="en-US" sz="1120" dirty="0"/>
          </a:p>
        </p:txBody>
      </p:sp>
      <p:sp>
        <p:nvSpPr>
          <p:cNvPr id="18" name="Shape 16"/>
          <p:cNvSpPr/>
          <p:nvPr/>
        </p:nvSpPr>
        <p:spPr>
          <a:xfrm>
            <a:off x="2157984" y="2761488"/>
            <a:ext cx="1426464" cy="822960"/>
          </a:xfrm>
          <a:prstGeom prst="rect">
            <a:avLst/>
          </a:prstGeom>
          <a:solidFill>
            <a:srgbClr val="162441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304288" y="2889504"/>
            <a:ext cx="1207008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고정 톤 문장</a:t>
            </a:r>
            <a:endParaRPr lang="en-US" sz="1120" dirty="0"/>
          </a:p>
        </p:txBody>
      </p:sp>
      <p:sp>
        <p:nvSpPr>
          <p:cNvPr id="20" name="Shape 18"/>
          <p:cNvSpPr/>
          <p:nvPr/>
        </p:nvSpPr>
        <p:spPr>
          <a:xfrm>
            <a:off x="475488" y="4096512"/>
            <a:ext cx="7296912" cy="512064"/>
          </a:xfrm>
          <a:prstGeom prst="rect">
            <a:avLst/>
          </a:prstGeom>
          <a:solidFill>
            <a:srgbClr val="111B33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3504" y="4206240"/>
            <a:ext cx="7680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FF6B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강사 포인트</a:t>
            </a:r>
            <a:endParaRPr lang="en-US" sz="930" dirty="0"/>
          </a:p>
        </p:txBody>
      </p:sp>
      <p:sp>
        <p:nvSpPr>
          <p:cNvPr id="22" name="Text 20"/>
          <p:cNvSpPr/>
          <p:nvPr/>
        </p:nvSpPr>
        <p:spPr>
          <a:xfrm>
            <a:off x="1499616" y="4169664"/>
            <a:ext cx="5998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AAB7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일관성은 한 파라미터의 문제가 아니라 여러 제어값의 조합이라는 점을 짚는다.</a:t>
            </a:r>
            <a:endParaRPr lang="en-US" sz="960" dirty="0"/>
          </a:p>
        </p:txBody>
      </p:sp>
      <p:sp>
        <p:nvSpPr>
          <p:cNvPr id="23" name="Text 21"/>
          <p:cNvSpPr/>
          <p:nvPr/>
        </p:nvSpPr>
        <p:spPr>
          <a:xfrm rot="5400000">
            <a:off x="8119872" y="109728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C72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Afternoon Lab</a:t>
            </a:r>
            <a:endParaRPr lang="en-US" sz="11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201168"/>
            <a:ext cx="8631936" cy="4736592"/>
          </a:xfrm>
          <a:prstGeom prst="rect">
            <a:avLst/>
          </a:prstGeom>
          <a:solidFill>
            <a:srgbClr val="10182D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73568" y="201168"/>
            <a:ext cx="914400" cy="4736592"/>
          </a:xfrm>
          <a:prstGeom prst="rect">
            <a:avLst/>
          </a:prstGeom>
          <a:solidFill>
            <a:srgbClr val="0F1E38"/>
          </a:solidFill>
          <a:ln w="6350">
            <a:solidFill>
              <a:srgbClr val="2A36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310896"/>
            <a:ext cx="768096" cy="182880"/>
          </a:xfrm>
          <a:prstGeom prst="rect">
            <a:avLst/>
          </a:prstGeom>
          <a:solidFill>
            <a:srgbClr val="17304D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1D9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오후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8156448" y="310896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AB7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29 / 40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603504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41D9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STORYBOARD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822960"/>
            <a:ext cx="7040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비즈니스 홍보 영상의 기본 스토리보드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475488" y="1426464"/>
            <a:ext cx="3794760" cy="2505456"/>
          </a:xfrm>
          <a:prstGeom prst="rect">
            <a:avLst/>
          </a:prstGeom>
          <a:solidFill>
            <a:srgbClr val="121A30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98848" y="1426464"/>
            <a:ext cx="3273552" cy="2505456"/>
          </a:xfrm>
          <a:prstGeom prst="rect">
            <a:avLst/>
          </a:prstGeom>
          <a:solidFill>
            <a:srgbClr val="121A30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591056"/>
            <a:ext cx="3456432" cy="21762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342900" indent="-342900">
              <a:buSzPct val="100000"/>
              <a:buChar char="•"/>
            </a:pPr>
            <a:r>
              <a:rPr lang="en-US" sz="131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문제 제기, 가치 제안, 핵심 장면, 마무리 메시지의 4단 구성이 가장 무난하다.</a:t>
            </a:r>
            <a:endParaRPr lang="en-US" sz="1310" dirty="0"/>
          </a:p>
          <a:p>
            <a:pPr marL="342900" indent="-342900">
              <a:buSzPct val="100000"/>
              <a:buChar char="•"/>
            </a:pPr>
            <a:r>
              <a:rPr lang="en-US" sz="131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생성 영상이라도 스토리 흐름이 없으면 단순 데모 영상처럼 보이기 쉽다.</a:t>
            </a:r>
            <a:endParaRPr lang="en-US" sz="1310" dirty="0"/>
          </a:p>
          <a:p>
            <a:pPr marL="342900" indent="-342900">
              <a:buSzPct val="100000"/>
              <a:buChar char="•"/>
            </a:pPr>
            <a:r>
              <a:rPr lang="en-US" sz="131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짧은 길이에서는 한 장면당 한 메시지 원칙을 지키는 것이 효과적이다.</a:t>
            </a:r>
            <a:endParaRPr lang="en-US" sz="1310" dirty="0"/>
          </a:p>
        </p:txBody>
      </p:sp>
      <p:sp>
        <p:nvSpPr>
          <p:cNvPr id="11" name="Text 9"/>
          <p:cNvSpPr/>
          <p:nvPr/>
        </p:nvSpPr>
        <p:spPr>
          <a:xfrm>
            <a:off x="4645152" y="1572768"/>
            <a:ext cx="2962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AB7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4장면 구성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645152" y="1828800"/>
            <a:ext cx="658368" cy="822960"/>
          </a:xfrm>
          <a:prstGeom prst="rect">
            <a:avLst/>
          </a:prstGeom>
          <a:solidFill>
            <a:srgbClr val="162441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91456" y="1956816"/>
            <a:ext cx="438912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문제</a:t>
            </a:r>
            <a:endParaRPr lang="en-US" sz="1120" dirty="0"/>
          </a:p>
        </p:txBody>
      </p:sp>
      <p:sp>
        <p:nvSpPr>
          <p:cNvPr id="14" name="Shape 12"/>
          <p:cNvSpPr/>
          <p:nvPr/>
        </p:nvSpPr>
        <p:spPr>
          <a:xfrm>
            <a:off x="5413248" y="1828800"/>
            <a:ext cx="658368" cy="822960"/>
          </a:xfrm>
          <a:prstGeom prst="rect">
            <a:avLst/>
          </a:prstGeom>
          <a:solidFill>
            <a:srgbClr val="162441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59552" y="1956816"/>
            <a:ext cx="438912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해결</a:t>
            </a:r>
            <a:endParaRPr lang="en-US" sz="1120" dirty="0"/>
          </a:p>
        </p:txBody>
      </p:sp>
      <p:sp>
        <p:nvSpPr>
          <p:cNvPr id="16" name="Shape 14"/>
          <p:cNvSpPr/>
          <p:nvPr/>
        </p:nvSpPr>
        <p:spPr>
          <a:xfrm>
            <a:off x="6181344" y="1828800"/>
            <a:ext cx="658368" cy="822960"/>
          </a:xfrm>
          <a:prstGeom prst="rect">
            <a:avLst/>
          </a:prstGeom>
          <a:solidFill>
            <a:srgbClr val="162441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27648" y="1956816"/>
            <a:ext cx="438912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사용 장면</a:t>
            </a:r>
            <a:endParaRPr lang="en-US" sz="1120" dirty="0"/>
          </a:p>
        </p:txBody>
      </p:sp>
      <p:sp>
        <p:nvSpPr>
          <p:cNvPr id="18" name="Shape 16"/>
          <p:cNvSpPr/>
          <p:nvPr/>
        </p:nvSpPr>
        <p:spPr>
          <a:xfrm>
            <a:off x="6949440" y="1828800"/>
            <a:ext cx="658368" cy="822960"/>
          </a:xfrm>
          <a:prstGeom prst="rect">
            <a:avLst/>
          </a:prstGeom>
          <a:solidFill>
            <a:srgbClr val="162441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95744" y="1956816"/>
            <a:ext cx="438912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CTA/브랜드</a:t>
            </a:r>
            <a:endParaRPr lang="en-US" sz="1120" dirty="0"/>
          </a:p>
        </p:txBody>
      </p:sp>
      <p:sp>
        <p:nvSpPr>
          <p:cNvPr id="20" name="Shape 18"/>
          <p:cNvSpPr/>
          <p:nvPr/>
        </p:nvSpPr>
        <p:spPr>
          <a:xfrm>
            <a:off x="475488" y="4096512"/>
            <a:ext cx="7296912" cy="512064"/>
          </a:xfrm>
          <a:prstGeom prst="rect">
            <a:avLst/>
          </a:prstGeom>
          <a:solidFill>
            <a:srgbClr val="111B33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3504" y="4206240"/>
            <a:ext cx="7680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FF6B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강사 포인트</a:t>
            </a:r>
            <a:endParaRPr lang="en-US" sz="930" dirty="0"/>
          </a:p>
        </p:txBody>
      </p:sp>
      <p:sp>
        <p:nvSpPr>
          <p:cNvPr id="22" name="Text 20"/>
          <p:cNvSpPr/>
          <p:nvPr/>
        </p:nvSpPr>
        <p:spPr>
          <a:xfrm>
            <a:off x="1499616" y="4169664"/>
            <a:ext cx="5998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AAB7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기술 실습이더라도 반드시 스토리보드 개념을 연결해야 결과가 비즈니스 영상으로 수렴한다.</a:t>
            </a:r>
            <a:endParaRPr lang="en-US" sz="960" dirty="0"/>
          </a:p>
        </p:txBody>
      </p:sp>
      <p:sp>
        <p:nvSpPr>
          <p:cNvPr id="23" name="Text 21"/>
          <p:cNvSpPr/>
          <p:nvPr/>
        </p:nvSpPr>
        <p:spPr>
          <a:xfrm rot="5400000">
            <a:off x="8119872" y="109728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1D9E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Afternoon Lab</a:t>
            </a:r>
            <a:endParaRPr lang="en-US" sz="11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201168"/>
            <a:ext cx="8631936" cy="4736592"/>
          </a:xfrm>
          <a:prstGeom prst="rect">
            <a:avLst/>
          </a:prstGeom>
          <a:solidFill>
            <a:srgbClr val="10182D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73568" y="201168"/>
            <a:ext cx="914400" cy="4736592"/>
          </a:xfrm>
          <a:prstGeom prst="rect">
            <a:avLst/>
          </a:prstGeom>
          <a:solidFill>
            <a:srgbClr val="132347"/>
          </a:solidFill>
          <a:ln w="6350">
            <a:solidFill>
              <a:srgbClr val="2A36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310896"/>
            <a:ext cx="768096" cy="182880"/>
          </a:xfrm>
          <a:prstGeom prst="rect">
            <a:avLst/>
          </a:prstGeom>
          <a:solidFill>
            <a:srgbClr val="17304D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1D9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오후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8156448" y="310896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AB7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 / 40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603504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41D9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PRE-PRODUCTION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822960"/>
            <a:ext cx="7040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제작 전 준비 체크리스트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4498848" y="1426464"/>
            <a:ext cx="3794760" cy="2505456"/>
          </a:xfrm>
          <a:prstGeom prst="rect">
            <a:avLst/>
          </a:prstGeom>
          <a:solidFill>
            <a:srgbClr val="121A30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" y="1426464"/>
            <a:ext cx="3273552" cy="2505456"/>
          </a:xfrm>
          <a:prstGeom prst="rect">
            <a:avLst/>
          </a:prstGeom>
          <a:solidFill>
            <a:srgbClr val="121A30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1591056"/>
            <a:ext cx="3456432" cy="21762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342900" indent="-342900">
              <a:buSzPct val="100000"/>
              <a:buChar char="•"/>
            </a:pPr>
            <a:r>
              <a:rPr lang="en-US" sz="131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브랜드 대상, 제품 메시지, 장면 수, 길이, 톤앤매너를 먼저 정한다.</a:t>
            </a:r>
            <a:endParaRPr lang="en-US" sz="1310" dirty="0"/>
          </a:p>
          <a:p>
            <a:pPr marL="342900" indent="-342900">
              <a:buSzPct val="100000"/>
              <a:buChar char="•"/>
            </a:pPr>
            <a:r>
              <a:rPr lang="en-US" sz="131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텍스트 기반 접근인지 이미지 기반 접근인지 선택하고 입력 자산을 준비한다.</a:t>
            </a:r>
            <a:endParaRPr lang="en-US" sz="1310" dirty="0"/>
          </a:p>
          <a:p>
            <a:pPr marL="342900" indent="-342900">
              <a:buSzPct val="100000"/>
              <a:buChar char="•"/>
            </a:pPr>
            <a:r>
              <a:rPr lang="en-US" sz="131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실습 시간 제약을 고려해 2~3장면 수준으로 범위를 통제한다.</a:t>
            </a:r>
            <a:endParaRPr lang="en-US" sz="1310" dirty="0"/>
          </a:p>
        </p:txBody>
      </p:sp>
      <p:sp>
        <p:nvSpPr>
          <p:cNvPr id="11" name="Text 9"/>
          <p:cNvSpPr/>
          <p:nvPr/>
        </p:nvSpPr>
        <p:spPr>
          <a:xfrm>
            <a:off x="621792" y="1572768"/>
            <a:ext cx="2962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AB7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준비 항목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21792" y="1828800"/>
            <a:ext cx="1426464" cy="560832"/>
          </a:xfrm>
          <a:prstGeom prst="rect">
            <a:avLst/>
          </a:prstGeom>
          <a:solidFill>
            <a:srgbClr val="162441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" y="1965960"/>
            <a:ext cx="146304" cy="146304"/>
          </a:xfrm>
          <a:prstGeom prst="ellipse">
            <a:avLst/>
          </a:prstGeom>
          <a:solidFill>
            <a:srgbClr val="35D49A"/>
          </a:solidFill>
          <a:ln w="6350">
            <a:solidFill>
              <a:srgbClr val="35D4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8096" y="1956816"/>
            <a:ext cx="1207008" cy="396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대상 고객</a:t>
            </a:r>
            <a:endParaRPr lang="en-US" sz="1120" dirty="0"/>
          </a:p>
        </p:txBody>
      </p:sp>
      <p:sp>
        <p:nvSpPr>
          <p:cNvPr id="15" name="Shape 13"/>
          <p:cNvSpPr/>
          <p:nvPr/>
        </p:nvSpPr>
        <p:spPr>
          <a:xfrm>
            <a:off x="2157984" y="1828800"/>
            <a:ext cx="1426464" cy="560832"/>
          </a:xfrm>
          <a:prstGeom prst="rect">
            <a:avLst/>
          </a:prstGeom>
          <a:solidFill>
            <a:srgbClr val="162441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67712" y="1965960"/>
            <a:ext cx="146304" cy="146304"/>
          </a:xfrm>
          <a:prstGeom prst="ellipse">
            <a:avLst/>
          </a:prstGeom>
          <a:solidFill>
            <a:srgbClr val="35D49A"/>
          </a:solidFill>
          <a:ln w="6350">
            <a:solidFill>
              <a:srgbClr val="35D4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04288" y="1956816"/>
            <a:ext cx="1207008" cy="396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핵심 메시지</a:t>
            </a:r>
            <a:endParaRPr lang="en-US" sz="1120" dirty="0"/>
          </a:p>
        </p:txBody>
      </p:sp>
      <p:sp>
        <p:nvSpPr>
          <p:cNvPr id="18" name="Shape 16"/>
          <p:cNvSpPr/>
          <p:nvPr/>
        </p:nvSpPr>
        <p:spPr>
          <a:xfrm>
            <a:off x="621792" y="2499360"/>
            <a:ext cx="1426464" cy="560832"/>
          </a:xfrm>
          <a:prstGeom prst="rect">
            <a:avLst/>
          </a:prstGeom>
          <a:solidFill>
            <a:srgbClr val="162441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1520" y="2636520"/>
            <a:ext cx="146304" cy="146304"/>
          </a:xfrm>
          <a:prstGeom prst="ellipse">
            <a:avLst/>
          </a:prstGeom>
          <a:solidFill>
            <a:srgbClr val="35D49A"/>
          </a:solidFill>
          <a:ln w="6350">
            <a:solidFill>
              <a:srgbClr val="35D49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8096" y="2627376"/>
            <a:ext cx="1207008" cy="396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입력 자산</a:t>
            </a:r>
            <a:endParaRPr lang="en-US" sz="1120" dirty="0"/>
          </a:p>
        </p:txBody>
      </p:sp>
      <p:sp>
        <p:nvSpPr>
          <p:cNvPr id="21" name="Shape 19"/>
          <p:cNvSpPr/>
          <p:nvPr/>
        </p:nvSpPr>
        <p:spPr>
          <a:xfrm>
            <a:off x="2157984" y="2499360"/>
            <a:ext cx="1426464" cy="560832"/>
          </a:xfrm>
          <a:prstGeom prst="rect">
            <a:avLst/>
          </a:prstGeom>
          <a:solidFill>
            <a:srgbClr val="162441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67712" y="2636520"/>
            <a:ext cx="146304" cy="146304"/>
          </a:xfrm>
          <a:prstGeom prst="ellipse">
            <a:avLst/>
          </a:prstGeom>
          <a:solidFill>
            <a:srgbClr val="35D49A"/>
          </a:solidFill>
          <a:ln w="6350">
            <a:solidFill>
              <a:srgbClr val="35D49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04288" y="2627376"/>
            <a:ext cx="1207008" cy="396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장면 수</a:t>
            </a:r>
            <a:endParaRPr lang="en-US" sz="1120" dirty="0"/>
          </a:p>
        </p:txBody>
      </p:sp>
      <p:sp>
        <p:nvSpPr>
          <p:cNvPr id="24" name="Shape 22"/>
          <p:cNvSpPr/>
          <p:nvPr/>
        </p:nvSpPr>
        <p:spPr>
          <a:xfrm>
            <a:off x="621792" y="3169920"/>
            <a:ext cx="1426464" cy="560832"/>
          </a:xfrm>
          <a:prstGeom prst="rect">
            <a:avLst/>
          </a:prstGeom>
          <a:solidFill>
            <a:srgbClr val="162441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1520" y="3307080"/>
            <a:ext cx="146304" cy="146304"/>
          </a:xfrm>
          <a:prstGeom prst="ellipse">
            <a:avLst/>
          </a:prstGeom>
          <a:solidFill>
            <a:srgbClr val="35D49A"/>
          </a:solidFill>
          <a:ln w="6350">
            <a:solidFill>
              <a:srgbClr val="35D49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8096" y="3297936"/>
            <a:ext cx="1207008" cy="396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길이</a:t>
            </a:r>
            <a:endParaRPr lang="en-US" sz="1120" dirty="0"/>
          </a:p>
        </p:txBody>
      </p:sp>
      <p:sp>
        <p:nvSpPr>
          <p:cNvPr id="27" name="Shape 25"/>
          <p:cNvSpPr/>
          <p:nvPr/>
        </p:nvSpPr>
        <p:spPr>
          <a:xfrm>
            <a:off x="2157984" y="3169920"/>
            <a:ext cx="1426464" cy="560832"/>
          </a:xfrm>
          <a:prstGeom prst="rect">
            <a:avLst/>
          </a:prstGeom>
          <a:solidFill>
            <a:srgbClr val="162441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267712" y="3307080"/>
            <a:ext cx="146304" cy="146304"/>
          </a:xfrm>
          <a:prstGeom prst="ellipse">
            <a:avLst/>
          </a:prstGeom>
          <a:solidFill>
            <a:srgbClr val="35D49A"/>
          </a:solidFill>
          <a:ln w="6350">
            <a:solidFill>
              <a:srgbClr val="35D49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04288" y="3297936"/>
            <a:ext cx="1207008" cy="396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톤앤매너</a:t>
            </a:r>
            <a:endParaRPr lang="en-US" sz="1120" dirty="0"/>
          </a:p>
        </p:txBody>
      </p:sp>
      <p:sp>
        <p:nvSpPr>
          <p:cNvPr id="30" name="Shape 28"/>
          <p:cNvSpPr/>
          <p:nvPr/>
        </p:nvSpPr>
        <p:spPr>
          <a:xfrm>
            <a:off x="475488" y="4096512"/>
            <a:ext cx="7296912" cy="512064"/>
          </a:xfrm>
          <a:prstGeom prst="rect">
            <a:avLst/>
          </a:prstGeom>
          <a:solidFill>
            <a:srgbClr val="111B33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3504" y="4206240"/>
            <a:ext cx="7680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FF6B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강사 포인트</a:t>
            </a:r>
            <a:endParaRPr lang="en-US" sz="930" dirty="0"/>
          </a:p>
        </p:txBody>
      </p:sp>
      <p:sp>
        <p:nvSpPr>
          <p:cNvPr id="32" name="Text 30"/>
          <p:cNvSpPr/>
          <p:nvPr/>
        </p:nvSpPr>
        <p:spPr>
          <a:xfrm>
            <a:off x="1499616" y="4169664"/>
            <a:ext cx="5998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AAB7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좋은 제작은 생성 버튼을 누르기 전에 이미 절반이 결정된다고 설명한다.</a:t>
            </a:r>
            <a:endParaRPr lang="en-US" sz="960" dirty="0"/>
          </a:p>
        </p:txBody>
      </p:sp>
      <p:sp>
        <p:nvSpPr>
          <p:cNvPr id="33" name="Text 31"/>
          <p:cNvSpPr/>
          <p:nvPr/>
        </p:nvSpPr>
        <p:spPr>
          <a:xfrm rot="5400000">
            <a:off x="8119872" y="109728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C72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Afternoon Lab</a:t>
            </a:r>
            <a:endParaRPr lang="en-US" sz="11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201168"/>
            <a:ext cx="8631936" cy="4736592"/>
          </a:xfrm>
          <a:prstGeom prst="rect">
            <a:avLst/>
          </a:prstGeom>
          <a:solidFill>
            <a:srgbClr val="10182D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73568" y="201168"/>
            <a:ext cx="914400" cy="4736592"/>
          </a:xfrm>
          <a:prstGeom prst="rect">
            <a:avLst/>
          </a:prstGeom>
          <a:solidFill>
            <a:srgbClr val="0F1E38"/>
          </a:solidFill>
          <a:ln w="6350">
            <a:solidFill>
              <a:srgbClr val="2A36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310896"/>
            <a:ext cx="768096" cy="182880"/>
          </a:xfrm>
          <a:prstGeom prst="rect">
            <a:avLst/>
          </a:prstGeom>
          <a:solidFill>
            <a:srgbClr val="17304D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1D9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오후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8156448" y="310896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AB7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31 / 40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603504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41D9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EXERCISE 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822960"/>
            <a:ext cx="7040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실습 1: Text-to-Video 홍보 컷 만들기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75488" y="1426464"/>
            <a:ext cx="3794760" cy="2505456"/>
          </a:xfrm>
          <a:prstGeom prst="rect">
            <a:avLst/>
          </a:prstGeom>
          <a:solidFill>
            <a:srgbClr val="121A30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98848" y="1426464"/>
            <a:ext cx="3273552" cy="2505456"/>
          </a:xfrm>
          <a:prstGeom prst="rect">
            <a:avLst/>
          </a:prstGeom>
          <a:solidFill>
            <a:srgbClr val="121A30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591056"/>
            <a:ext cx="3456432" cy="21762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342900" indent="-342900">
              <a:buSzPct val="100000"/>
              <a:buChar char="•"/>
            </a:pPr>
            <a:r>
              <a:rPr lang="en-US" sz="131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텍스트 프롬프트만으로 5초 내외의 짧은 브랜드 소개 컷을 만든다.</a:t>
            </a:r>
            <a:endParaRPr lang="en-US" sz="1310" dirty="0"/>
          </a:p>
          <a:p>
            <a:pPr marL="342900" indent="-342900">
              <a:buSzPct val="100000"/>
              <a:buChar char="•"/>
            </a:pPr>
            <a:r>
              <a:rPr lang="en-US" sz="131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주체와 움직임, 조명, 카메라 문장을 포함해 프롬프트를 설계한다.</a:t>
            </a:r>
            <a:endParaRPr lang="en-US" sz="1310" dirty="0"/>
          </a:p>
          <a:p>
            <a:pPr marL="342900" indent="-342900">
              <a:buSzPct val="100000"/>
              <a:buChar char="•"/>
            </a:pPr>
            <a:r>
              <a:rPr lang="en-US" sz="131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최소 2개의 CFG 값으로 결과를 비교 저장한다.</a:t>
            </a:r>
            <a:endParaRPr lang="en-US" sz="1310" dirty="0"/>
          </a:p>
        </p:txBody>
      </p:sp>
      <p:sp>
        <p:nvSpPr>
          <p:cNvPr id="11" name="Text 9"/>
          <p:cNvSpPr/>
          <p:nvPr/>
        </p:nvSpPr>
        <p:spPr>
          <a:xfrm>
            <a:off x="4645152" y="1572768"/>
            <a:ext cx="2962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AB7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실습 순서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645152" y="1828800"/>
            <a:ext cx="658368" cy="822960"/>
          </a:xfrm>
          <a:prstGeom prst="rect">
            <a:avLst/>
          </a:prstGeom>
          <a:solidFill>
            <a:srgbClr val="162441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91456" y="1956816"/>
            <a:ext cx="438912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프롬프트 작성</a:t>
            </a:r>
            <a:endParaRPr lang="en-US" sz="1120" dirty="0"/>
          </a:p>
        </p:txBody>
      </p:sp>
      <p:sp>
        <p:nvSpPr>
          <p:cNvPr id="14" name="Shape 12"/>
          <p:cNvSpPr/>
          <p:nvPr/>
        </p:nvSpPr>
        <p:spPr>
          <a:xfrm>
            <a:off x="5413248" y="1828800"/>
            <a:ext cx="658368" cy="822960"/>
          </a:xfrm>
          <a:prstGeom prst="rect">
            <a:avLst/>
          </a:prstGeom>
          <a:solidFill>
            <a:srgbClr val="162441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59552" y="1956816"/>
            <a:ext cx="438912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생성 1차</a:t>
            </a:r>
            <a:endParaRPr lang="en-US" sz="1120" dirty="0"/>
          </a:p>
        </p:txBody>
      </p:sp>
      <p:sp>
        <p:nvSpPr>
          <p:cNvPr id="16" name="Shape 14"/>
          <p:cNvSpPr/>
          <p:nvPr/>
        </p:nvSpPr>
        <p:spPr>
          <a:xfrm>
            <a:off x="6181344" y="1828800"/>
            <a:ext cx="658368" cy="822960"/>
          </a:xfrm>
          <a:prstGeom prst="rect">
            <a:avLst/>
          </a:prstGeom>
          <a:solidFill>
            <a:srgbClr val="162441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27648" y="1956816"/>
            <a:ext cx="438912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CFG 변경</a:t>
            </a:r>
            <a:endParaRPr lang="en-US" sz="1120" dirty="0"/>
          </a:p>
        </p:txBody>
      </p:sp>
      <p:sp>
        <p:nvSpPr>
          <p:cNvPr id="18" name="Shape 16"/>
          <p:cNvSpPr/>
          <p:nvPr/>
        </p:nvSpPr>
        <p:spPr>
          <a:xfrm>
            <a:off x="6949440" y="1828800"/>
            <a:ext cx="658368" cy="822960"/>
          </a:xfrm>
          <a:prstGeom prst="rect">
            <a:avLst/>
          </a:prstGeom>
          <a:solidFill>
            <a:srgbClr val="162441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95744" y="1956816"/>
            <a:ext cx="438912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비교 저장</a:t>
            </a:r>
            <a:endParaRPr lang="en-US" sz="1120" dirty="0"/>
          </a:p>
        </p:txBody>
      </p:sp>
      <p:sp>
        <p:nvSpPr>
          <p:cNvPr id="20" name="Shape 18"/>
          <p:cNvSpPr/>
          <p:nvPr/>
        </p:nvSpPr>
        <p:spPr>
          <a:xfrm>
            <a:off x="475488" y="4096512"/>
            <a:ext cx="7296912" cy="512064"/>
          </a:xfrm>
          <a:prstGeom prst="rect">
            <a:avLst/>
          </a:prstGeom>
          <a:solidFill>
            <a:srgbClr val="111B33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3504" y="4206240"/>
            <a:ext cx="7680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FF6B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강사 포인트</a:t>
            </a:r>
            <a:endParaRPr lang="en-US" sz="930" dirty="0"/>
          </a:p>
        </p:txBody>
      </p:sp>
      <p:sp>
        <p:nvSpPr>
          <p:cNvPr id="22" name="Text 20"/>
          <p:cNvSpPr/>
          <p:nvPr/>
        </p:nvSpPr>
        <p:spPr>
          <a:xfrm>
            <a:off x="1499616" y="4169664"/>
            <a:ext cx="5998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AAB7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이 실습은 모델 반응을 읽는 단계이므로 완성도보다 비교 실험의 충실함을 보게 한다.</a:t>
            </a:r>
            <a:endParaRPr lang="en-US" sz="960" dirty="0"/>
          </a:p>
        </p:txBody>
      </p:sp>
      <p:sp>
        <p:nvSpPr>
          <p:cNvPr id="23" name="Text 21"/>
          <p:cNvSpPr/>
          <p:nvPr/>
        </p:nvSpPr>
        <p:spPr>
          <a:xfrm rot="5400000">
            <a:off x="8119872" y="109728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1D9E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Afternoon Lab</a:t>
            </a:r>
            <a:endParaRPr lang="en-US" sz="11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201168"/>
            <a:ext cx="8631936" cy="4736592"/>
          </a:xfrm>
          <a:prstGeom prst="rect">
            <a:avLst/>
          </a:prstGeom>
          <a:solidFill>
            <a:srgbClr val="10182D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73568" y="201168"/>
            <a:ext cx="914400" cy="4736592"/>
          </a:xfrm>
          <a:prstGeom prst="rect">
            <a:avLst/>
          </a:prstGeom>
          <a:solidFill>
            <a:srgbClr val="132347"/>
          </a:solidFill>
          <a:ln w="6350">
            <a:solidFill>
              <a:srgbClr val="2A36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310896"/>
            <a:ext cx="768096" cy="182880"/>
          </a:xfrm>
          <a:prstGeom prst="rect">
            <a:avLst/>
          </a:prstGeom>
          <a:solidFill>
            <a:srgbClr val="17304D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1D9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오후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8156448" y="310896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AB7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32 / 40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603504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41D9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EXERCISE 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822960"/>
            <a:ext cx="7040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실습 2: Image-to-Video 제품 히어로 장면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498848" y="1426464"/>
            <a:ext cx="3794760" cy="2505456"/>
          </a:xfrm>
          <a:prstGeom prst="rect">
            <a:avLst/>
          </a:prstGeom>
          <a:solidFill>
            <a:srgbClr val="121A30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" y="1426464"/>
            <a:ext cx="3273552" cy="2505456"/>
          </a:xfrm>
          <a:prstGeom prst="rect">
            <a:avLst/>
          </a:prstGeom>
          <a:solidFill>
            <a:srgbClr val="121A30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1591056"/>
            <a:ext cx="3456432" cy="21762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342900" indent="-342900">
              <a:buSzPct val="100000"/>
              <a:buChar char="•"/>
            </a:pPr>
            <a:r>
              <a:rPr lang="en-US" sz="131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제품 또는 서비스 대표 이미지를 입력으로 넣어 시네마틱한 움직임을 부여한다.</a:t>
            </a:r>
            <a:endParaRPr lang="en-US" sz="1310" dirty="0"/>
          </a:p>
          <a:p>
            <a:pPr marL="342900" indent="-342900">
              <a:buSzPct val="100000"/>
              <a:buChar char="•"/>
            </a:pPr>
            <a:r>
              <a:rPr lang="en-US" sz="131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배경이 복잡한 이미지는 단순화하거나 크롭해 핵심 오브젝트를 강조한다.</a:t>
            </a:r>
            <a:endParaRPr lang="en-US" sz="1310" dirty="0"/>
          </a:p>
          <a:p>
            <a:pPr marL="342900" indent="-342900">
              <a:buSzPct val="100000"/>
              <a:buChar char="•"/>
            </a:pPr>
            <a:r>
              <a:rPr lang="en-US" sz="131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브랜드 컬러와 조명 톤이 유지되는지 중점적으로 본다.</a:t>
            </a:r>
            <a:endParaRPr lang="en-US" sz="1310" dirty="0"/>
          </a:p>
        </p:txBody>
      </p:sp>
      <p:sp>
        <p:nvSpPr>
          <p:cNvPr id="11" name="Text 9"/>
          <p:cNvSpPr/>
          <p:nvPr/>
        </p:nvSpPr>
        <p:spPr>
          <a:xfrm>
            <a:off x="621792" y="1572768"/>
            <a:ext cx="2962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AB7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관찰 포인트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21792" y="1828800"/>
            <a:ext cx="1426464" cy="822960"/>
          </a:xfrm>
          <a:prstGeom prst="rect">
            <a:avLst/>
          </a:prstGeom>
          <a:solidFill>
            <a:srgbClr val="162441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8096" y="1956816"/>
            <a:ext cx="1207008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제품 유지</a:t>
            </a:r>
            <a:endParaRPr lang="en-US" sz="1120" dirty="0"/>
          </a:p>
        </p:txBody>
      </p:sp>
      <p:sp>
        <p:nvSpPr>
          <p:cNvPr id="14" name="Shape 12"/>
          <p:cNvSpPr/>
          <p:nvPr/>
        </p:nvSpPr>
        <p:spPr>
          <a:xfrm>
            <a:off x="2157984" y="1828800"/>
            <a:ext cx="1426464" cy="822960"/>
          </a:xfrm>
          <a:prstGeom prst="rect">
            <a:avLst/>
          </a:prstGeom>
          <a:solidFill>
            <a:srgbClr val="162441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304288" y="1956816"/>
            <a:ext cx="1207008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카메라 안정성</a:t>
            </a:r>
            <a:endParaRPr lang="en-US" sz="1120" dirty="0"/>
          </a:p>
        </p:txBody>
      </p:sp>
      <p:sp>
        <p:nvSpPr>
          <p:cNvPr id="16" name="Shape 14"/>
          <p:cNvSpPr/>
          <p:nvPr/>
        </p:nvSpPr>
        <p:spPr>
          <a:xfrm>
            <a:off x="621792" y="2761488"/>
            <a:ext cx="1426464" cy="822960"/>
          </a:xfrm>
          <a:prstGeom prst="rect">
            <a:avLst/>
          </a:prstGeom>
          <a:solidFill>
            <a:srgbClr val="162441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8096" y="2889504"/>
            <a:ext cx="1207008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브랜드 컬러</a:t>
            </a:r>
            <a:endParaRPr lang="en-US" sz="1120" dirty="0"/>
          </a:p>
        </p:txBody>
      </p:sp>
      <p:sp>
        <p:nvSpPr>
          <p:cNvPr id="18" name="Shape 16"/>
          <p:cNvSpPr/>
          <p:nvPr/>
        </p:nvSpPr>
        <p:spPr>
          <a:xfrm>
            <a:off x="2157984" y="2761488"/>
            <a:ext cx="1426464" cy="822960"/>
          </a:xfrm>
          <a:prstGeom prst="rect">
            <a:avLst/>
          </a:prstGeom>
          <a:solidFill>
            <a:srgbClr val="162441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304288" y="2889504"/>
            <a:ext cx="1207008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배경 일관성</a:t>
            </a:r>
            <a:endParaRPr lang="en-US" sz="1120" dirty="0"/>
          </a:p>
        </p:txBody>
      </p:sp>
      <p:sp>
        <p:nvSpPr>
          <p:cNvPr id="20" name="Shape 18"/>
          <p:cNvSpPr/>
          <p:nvPr/>
        </p:nvSpPr>
        <p:spPr>
          <a:xfrm>
            <a:off x="475488" y="4096512"/>
            <a:ext cx="7296912" cy="512064"/>
          </a:xfrm>
          <a:prstGeom prst="rect">
            <a:avLst/>
          </a:prstGeom>
          <a:solidFill>
            <a:srgbClr val="111B33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3504" y="4206240"/>
            <a:ext cx="7680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FF6B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강사 포인트</a:t>
            </a:r>
            <a:endParaRPr lang="en-US" sz="930" dirty="0"/>
          </a:p>
        </p:txBody>
      </p:sp>
      <p:sp>
        <p:nvSpPr>
          <p:cNvPr id="22" name="Text 20"/>
          <p:cNvSpPr/>
          <p:nvPr/>
        </p:nvSpPr>
        <p:spPr>
          <a:xfrm>
            <a:off x="1499616" y="4169664"/>
            <a:ext cx="5998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AAB7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제품이 흔들리거나 변형되면 홍보 영상으로 쓰기 어려우므로 객체 유지 여부를 엄격히 보게 한다.</a:t>
            </a:r>
            <a:endParaRPr lang="en-US" sz="960" dirty="0"/>
          </a:p>
        </p:txBody>
      </p:sp>
      <p:sp>
        <p:nvSpPr>
          <p:cNvPr id="23" name="Text 21"/>
          <p:cNvSpPr/>
          <p:nvPr/>
        </p:nvSpPr>
        <p:spPr>
          <a:xfrm rot="5400000">
            <a:off x="8119872" y="109728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C72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Afternoon Lab</a:t>
            </a:r>
            <a:endParaRPr lang="en-US" sz="11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201168"/>
            <a:ext cx="8631936" cy="4736592"/>
          </a:xfrm>
          <a:prstGeom prst="rect">
            <a:avLst/>
          </a:prstGeom>
          <a:solidFill>
            <a:srgbClr val="10182D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73568" y="201168"/>
            <a:ext cx="914400" cy="4736592"/>
          </a:xfrm>
          <a:prstGeom prst="rect">
            <a:avLst/>
          </a:prstGeom>
          <a:solidFill>
            <a:srgbClr val="0F1E38"/>
          </a:solidFill>
          <a:ln w="6350">
            <a:solidFill>
              <a:srgbClr val="2A36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310896"/>
            <a:ext cx="768096" cy="182880"/>
          </a:xfrm>
          <a:prstGeom prst="rect">
            <a:avLst/>
          </a:prstGeom>
          <a:solidFill>
            <a:srgbClr val="17304D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1D9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오후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8156448" y="310896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AB7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33 / 40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603504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41D9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EXERCISE 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822960"/>
            <a:ext cx="7040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실습 3: 다장면 일관성 확보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475488" y="1426464"/>
            <a:ext cx="3794760" cy="2505456"/>
          </a:xfrm>
          <a:prstGeom prst="rect">
            <a:avLst/>
          </a:prstGeom>
          <a:solidFill>
            <a:srgbClr val="121A30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98848" y="1426464"/>
            <a:ext cx="3273552" cy="2505456"/>
          </a:xfrm>
          <a:prstGeom prst="rect">
            <a:avLst/>
          </a:prstGeom>
          <a:solidFill>
            <a:srgbClr val="121A30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591056"/>
            <a:ext cx="3456432" cy="21762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342900" indent="-342900">
              <a:buSzPct val="100000"/>
              <a:buChar char="•"/>
            </a:pPr>
            <a:r>
              <a:rPr lang="en-US" sz="131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두 개 이상의 장면을 만들 때 동일 브랜드 톤과 메시지가 유지되도록 조정한다.</a:t>
            </a:r>
            <a:endParaRPr lang="en-US" sz="1310" dirty="0"/>
          </a:p>
          <a:p>
            <a:pPr marL="342900" indent="-342900">
              <a:buSzPct val="100000"/>
              <a:buChar char="•"/>
            </a:pPr>
            <a:r>
              <a:rPr lang="en-US" sz="131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시드, 프롬프트 공통 문장, 색감 요소를 공유해 장면 간 연결감을 만든다.</a:t>
            </a:r>
            <a:endParaRPr lang="en-US" sz="1310" dirty="0"/>
          </a:p>
          <a:p>
            <a:pPr marL="342900" indent="-342900">
              <a:buSzPct val="100000"/>
              <a:buChar char="•"/>
            </a:pPr>
            <a:r>
              <a:rPr lang="en-US" sz="131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최종 편집을 염두에 두고 전환이 자연스러운 조합을 고른다.</a:t>
            </a:r>
            <a:endParaRPr lang="en-US" sz="1310" dirty="0"/>
          </a:p>
        </p:txBody>
      </p:sp>
      <p:sp>
        <p:nvSpPr>
          <p:cNvPr id="11" name="Text 9"/>
          <p:cNvSpPr/>
          <p:nvPr/>
        </p:nvSpPr>
        <p:spPr>
          <a:xfrm>
            <a:off x="4645152" y="1572768"/>
            <a:ext cx="2962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AB7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다장면 관리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645152" y="1828800"/>
            <a:ext cx="504749" cy="822960"/>
          </a:xfrm>
          <a:prstGeom prst="rect">
            <a:avLst/>
          </a:prstGeom>
          <a:solidFill>
            <a:srgbClr val="162441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91456" y="1956816"/>
            <a:ext cx="285293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공통 스타일</a:t>
            </a:r>
            <a:endParaRPr lang="en-US" sz="1120" dirty="0"/>
          </a:p>
        </p:txBody>
      </p:sp>
      <p:sp>
        <p:nvSpPr>
          <p:cNvPr id="14" name="Shape 12"/>
          <p:cNvSpPr/>
          <p:nvPr/>
        </p:nvSpPr>
        <p:spPr>
          <a:xfrm>
            <a:off x="5259629" y="1828800"/>
            <a:ext cx="504749" cy="822960"/>
          </a:xfrm>
          <a:prstGeom prst="rect">
            <a:avLst/>
          </a:prstGeom>
          <a:solidFill>
            <a:srgbClr val="162441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05933" y="1956816"/>
            <a:ext cx="285293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장면 A</a:t>
            </a:r>
            <a:endParaRPr lang="en-US" sz="1120" dirty="0"/>
          </a:p>
        </p:txBody>
      </p:sp>
      <p:sp>
        <p:nvSpPr>
          <p:cNvPr id="16" name="Shape 14"/>
          <p:cNvSpPr/>
          <p:nvPr/>
        </p:nvSpPr>
        <p:spPr>
          <a:xfrm>
            <a:off x="5874106" y="1828800"/>
            <a:ext cx="504749" cy="822960"/>
          </a:xfrm>
          <a:prstGeom prst="rect">
            <a:avLst/>
          </a:prstGeom>
          <a:solidFill>
            <a:srgbClr val="162441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20410" y="1956816"/>
            <a:ext cx="285293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장면 B</a:t>
            </a:r>
            <a:endParaRPr lang="en-US" sz="1120" dirty="0"/>
          </a:p>
        </p:txBody>
      </p:sp>
      <p:sp>
        <p:nvSpPr>
          <p:cNvPr id="18" name="Shape 16"/>
          <p:cNvSpPr/>
          <p:nvPr/>
        </p:nvSpPr>
        <p:spPr>
          <a:xfrm>
            <a:off x="6488582" y="1828800"/>
            <a:ext cx="504749" cy="822960"/>
          </a:xfrm>
          <a:prstGeom prst="rect">
            <a:avLst/>
          </a:prstGeom>
          <a:solidFill>
            <a:srgbClr val="162441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34886" y="1956816"/>
            <a:ext cx="285293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전환 검토</a:t>
            </a:r>
            <a:endParaRPr lang="en-US" sz="1120" dirty="0"/>
          </a:p>
        </p:txBody>
      </p:sp>
      <p:sp>
        <p:nvSpPr>
          <p:cNvPr id="20" name="Shape 18"/>
          <p:cNvSpPr/>
          <p:nvPr/>
        </p:nvSpPr>
        <p:spPr>
          <a:xfrm>
            <a:off x="7103059" y="1828800"/>
            <a:ext cx="504749" cy="822960"/>
          </a:xfrm>
          <a:prstGeom prst="rect">
            <a:avLst/>
          </a:prstGeom>
          <a:solidFill>
            <a:srgbClr val="162441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49363" y="1956816"/>
            <a:ext cx="285293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최종 선택</a:t>
            </a:r>
            <a:endParaRPr lang="en-US" sz="1120" dirty="0"/>
          </a:p>
        </p:txBody>
      </p:sp>
      <p:sp>
        <p:nvSpPr>
          <p:cNvPr id="22" name="Shape 20"/>
          <p:cNvSpPr/>
          <p:nvPr/>
        </p:nvSpPr>
        <p:spPr>
          <a:xfrm>
            <a:off x="475488" y="4096512"/>
            <a:ext cx="7296912" cy="512064"/>
          </a:xfrm>
          <a:prstGeom prst="rect">
            <a:avLst/>
          </a:prstGeom>
          <a:solidFill>
            <a:srgbClr val="111B33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3504" y="4206240"/>
            <a:ext cx="7680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FF6B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강사 포인트</a:t>
            </a:r>
            <a:endParaRPr lang="en-US" sz="930" dirty="0"/>
          </a:p>
        </p:txBody>
      </p:sp>
      <p:sp>
        <p:nvSpPr>
          <p:cNvPr id="24" name="Text 22"/>
          <p:cNvSpPr/>
          <p:nvPr/>
        </p:nvSpPr>
        <p:spPr>
          <a:xfrm>
            <a:off x="1499616" y="4169664"/>
            <a:ext cx="5998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AAB7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한 장면 결과가 좋더라도 전체 흐름이 안 맞으면 홍보 영상으로는 약하다는 점을 강조한다.</a:t>
            </a:r>
            <a:endParaRPr lang="en-US" sz="960" dirty="0"/>
          </a:p>
        </p:txBody>
      </p:sp>
      <p:sp>
        <p:nvSpPr>
          <p:cNvPr id="25" name="Text 23"/>
          <p:cNvSpPr/>
          <p:nvPr/>
        </p:nvSpPr>
        <p:spPr>
          <a:xfrm rot="5400000">
            <a:off x="8119872" y="109728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1D9E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Afternoon Lab</a:t>
            </a:r>
            <a:endParaRPr lang="en-US" sz="11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201168"/>
            <a:ext cx="8631936" cy="4736592"/>
          </a:xfrm>
          <a:prstGeom prst="rect">
            <a:avLst/>
          </a:prstGeom>
          <a:solidFill>
            <a:srgbClr val="10182D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73568" y="201168"/>
            <a:ext cx="914400" cy="4736592"/>
          </a:xfrm>
          <a:prstGeom prst="rect">
            <a:avLst/>
          </a:prstGeom>
          <a:solidFill>
            <a:srgbClr val="132347"/>
          </a:solidFill>
          <a:ln w="6350">
            <a:solidFill>
              <a:srgbClr val="2A36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310896"/>
            <a:ext cx="768096" cy="182880"/>
          </a:xfrm>
          <a:prstGeom prst="rect">
            <a:avLst/>
          </a:prstGeom>
          <a:solidFill>
            <a:srgbClr val="17304D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1D9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오후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8156448" y="310896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AB7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34 / 40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603504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41D9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RUBRIC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822960"/>
            <a:ext cx="7040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결과물 품질 리뷰 기준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4498848" y="1426464"/>
            <a:ext cx="3794760" cy="2505456"/>
          </a:xfrm>
          <a:prstGeom prst="rect">
            <a:avLst/>
          </a:prstGeom>
          <a:solidFill>
            <a:srgbClr val="121A30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" y="1426464"/>
            <a:ext cx="3273552" cy="2505456"/>
          </a:xfrm>
          <a:prstGeom prst="rect">
            <a:avLst/>
          </a:prstGeom>
          <a:solidFill>
            <a:srgbClr val="121A30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1591056"/>
            <a:ext cx="3456432" cy="21762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342900" indent="-342900">
              <a:buSzPct val="100000"/>
              <a:buChar char="•"/>
            </a:pPr>
            <a:r>
              <a:rPr lang="en-US" sz="131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메시지 명확성, 주체 유지, 화면 안정성, 브랜드 톤, 재사용 가능성을 기준으로 본다.</a:t>
            </a:r>
            <a:endParaRPr lang="en-US" sz="1310" dirty="0"/>
          </a:p>
          <a:p>
            <a:pPr marL="342900" indent="-342900">
              <a:buSzPct val="100000"/>
              <a:buChar char="•"/>
            </a:pPr>
            <a:r>
              <a:rPr lang="en-US" sz="131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단순 미적 취향보다 비즈니스 활용 가능성 관점에서 평가한다.</a:t>
            </a:r>
            <a:endParaRPr lang="en-US" sz="1310" dirty="0"/>
          </a:p>
          <a:p>
            <a:pPr marL="342900" indent="-342900">
              <a:buSzPct val="100000"/>
              <a:buChar char="•"/>
            </a:pPr>
            <a:r>
              <a:rPr lang="en-US" sz="131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개별 결과를 팀 리뷰로 돌려 개선 포인트를 빠르게 찾는다.</a:t>
            </a:r>
            <a:endParaRPr lang="en-US" sz="1310" dirty="0"/>
          </a:p>
        </p:txBody>
      </p:sp>
      <p:sp>
        <p:nvSpPr>
          <p:cNvPr id="11" name="Text 9"/>
          <p:cNvSpPr/>
          <p:nvPr/>
        </p:nvSpPr>
        <p:spPr>
          <a:xfrm>
            <a:off x="621792" y="1572768"/>
            <a:ext cx="2962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AB7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5개 기준</a:t>
            </a:r>
            <a:endParaRPr lang="en-US" sz="95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" y="1828800"/>
          <a:ext cx="2962656" cy="1901952"/>
        </p:xfrm>
        <a:graphic>
          <a:graphicData uri="http://schemas.openxmlformats.org/drawingml/2006/table">
            <a:tbl>
              <a:tblPr/>
              <a:tblGrid>
                <a:gridCol w="1125809"/>
                <a:gridCol w="1836847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5F7F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메시지 명확성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5F7F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무엇을 홍보하는지 바로 알 수 있는가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4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5F7F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주체 유지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5F7F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제품/인물이 흔들리지 않는가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4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5F7F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화면 안정성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5F7F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프레임 붕괴가 적은가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4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5F7F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브랜드 톤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5F7F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색/조명/분위기가 일관적인가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41"/>
                    </a:solidFill>
                  </a:tcPr>
                </a:tc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475488" y="4096512"/>
            <a:ext cx="7296912" cy="512064"/>
          </a:xfrm>
          <a:prstGeom prst="rect">
            <a:avLst/>
          </a:prstGeom>
          <a:solidFill>
            <a:srgbClr val="111B33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3504" y="4206240"/>
            <a:ext cx="7680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FF6B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강사 포인트</a:t>
            </a:r>
            <a:endParaRPr lang="en-US" sz="930" dirty="0"/>
          </a:p>
        </p:txBody>
      </p:sp>
      <p:sp>
        <p:nvSpPr>
          <p:cNvPr id="15" name="Text 12"/>
          <p:cNvSpPr/>
          <p:nvPr/>
        </p:nvSpPr>
        <p:spPr>
          <a:xfrm>
            <a:off x="1499616" y="4169664"/>
            <a:ext cx="5998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AAB7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리뷰 기준을 말로만 설명하지 말고 평가표로 고정해 팀끼리 같은 언어로 피드백하게 한다.</a:t>
            </a:r>
            <a:endParaRPr lang="en-US" sz="960" dirty="0"/>
          </a:p>
        </p:txBody>
      </p:sp>
      <p:sp>
        <p:nvSpPr>
          <p:cNvPr id="16" name="Text 13"/>
          <p:cNvSpPr/>
          <p:nvPr/>
        </p:nvSpPr>
        <p:spPr>
          <a:xfrm rot="5400000">
            <a:off x="8119872" y="109728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C72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Afternoon Lab</a:t>
            </a:r>
            <a:endParaRPr lang="en-US" sz="11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201168"/>
            <a:ext cx="8631936" cy="4736592"/>
          </a:xfrm>
          <a:prstGeom prst="rect">
            <a:avLst/>
          </a:prstGeom>
          <a:solidFill>
            <a:srgbClr val="10182D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73568" y="201168"/>
            <a:ext cx="914400" cy="4736592"/>
          </a:xfrm>
          <a:prstGeom prst="rect">
            <a:avLst/>
          </a:prstGeom>
          <a:solidFill>
            <a:srgbClr val="0F1E38"/>
          </a:solidFill>
          <a:ln w="6350">
            <a:solidFill>
              <a:srgbClr val="2A36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310896"/>
            <a:ext cx="768096" cy="182880"/>
          </a:xfrm>
          <a:prstGeom prst="rect">
            <a:avLst/>
          </a:prstGeom>
          <a:solidFill>
            <a:srgbClr val="17304D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1D9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오후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8156448" y="310896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AB7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 / 40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603504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41D9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EXPORT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822960"/>
            <a:ext cx="7040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출력 설정과 후처리 연결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475488" y="1426464"/>
            <a:ext cx="3794760" cy="2505456"/>
          </a:xfrm>
          <a:prstGeom prst="rect">
            <a:avLst/>
          </a:prstGeom>
          <a:solidFill>
            <a:srgbClr val="121A30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98848" y="1426464"/>
            <a:ext cx="3273552" cy="2505456"/>
          </a:xfrm>
          <a:prstGeom prst="rect">
            <a:avLst/>
          </a:prstGeom>
          <a:solidFill>
            <a:srgbClr val="121A30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591056"/>
            <a:ext cx="3456432" cy="21762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342900" indent="-342900">
              <a:buSzPct val="100000"/>
              <a:buChar char="•"/>
            </a:pPr>
            <a:r>
              <a:rPr lang="en-US" sz="131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실습에서는 생성 속도와 비교 편의성을 위해 지나치게 긴 클립은 피한다.</a:t>
            </a:r>
            <a:endParaRPr lang="en-US" sz="1310" dirty="0"/>
          </a:p>
          <a:p>
            <a:pPr marL="342900" indent="-342900">
              <a:buSzPct val="100000"/>
              <a:buChar char="•"/>
            </a:pPr>
            <a:r>
              <a:rPr lang="en-US" sz="131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파일명 규칙을 정해 CFG, 샘플러, 시드 정보를 남기면 재현성이 높아진다.</a:t>
            </a:r>
            <a:endParaRPr lang="en-US" sz="1310" dirty="0"/>
          </a:p>
          <a:p>
            <a:pPr marL="342900" indent="-342900">
              <a:buSzPct val="100000"/>
              <a:buChar char="•"/>
            </a:pPr>
            <a:r>
              <a:rPr lang="en-US" sz="131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후처리 편집 도구와 연결할 경우 장면별 버전 관리가 중요하다.</a:t>
            </a:r>
            <a:endParaRPr lang="en-US" sz="1310" dirty="0"/>
          </a:p>
        </p:txBody>
      </p:sp>
      <p:sp>
        <p:nvSpPr>
          <p:cNvPr id="11" name="Text 9"/>
          <p:cNvSpPr/>
          <p:nvPr/>
        </p:nvSpPr>
        <p:spPr>
          <a:xfrm>
            <a:off x="4645152" y="1572768"/>
            <a:ext cx="2962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AB7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출력 관리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645152" y="1828800"/>
            <a:ext cx="1426464" cy="822960"/>
          </a:xfrm>
          <a:prstGeom prst="rect">
            <a:avLst/>
          </a:prstGeom>
          <a:solidFill>
            <a:srgbClr val="162441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54880" y="1965960"/>
            <a:ext cx="146304" cy="146304"/>
          </a:xfrm>
          <a:prstGeom prst="ellipse">
            <a:avLst/>
          </a:prstGeom>
          <a:solidFill>
            <a:srgbClr val="35D49A"/>
          </a:solidFill>
          <a:ln w="6350">
            <a:solidFill>
              <a:srgbClr val="35D4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91456" y="1956816"/>
            <a:ext cx="1207008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파일명 규칙</a:t>
            </a:r>
            <a:endParaRPr lang="en-US" sz="1120" dirty="0"/>
          </a:p>
        </p:txBody>
      </p:sp>
      <p:sp>
        <p:nvSpPr>
          <p:cNvPr id="15" name="Shape 13"/>
          <p:cNvSpPr/>
          <p:nvPr/>
        </p:nvSpPr>
        <p:spPr>
          <a:xfrm>
            <a:off x="6181344" y="1828800"/>
            <a:ext cx="1426464" cy="822960"/>
          </a:xfrm>
          <a:prstGeom prst="rect">
            <a:avLst/>
          </a:prstGeom>
          <a:solidFill>
            <a:srgbClr val="162441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91072" y="1965960"/>
            <a:ext cx="146304" cy="146304"/>
          </a:xfrm>
          <a:prstGeom prst="ellipse">
            <a:avLst/>
          </a:prstGeom>
          <a:solidFill>
            <a:srgbClr val="35D49A"/>
          </a:solidFill>
          <a:ln w="6350">
            <a:solidFill>
              <a:srgbClr val="35D4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27648" y="1956816"/>
            <a:ext cx="1207008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버전 기록</a:t>
            </a:r>
            <a:endParaRPr lang="en-US" sz="1120" dirty="0"/>
          </a:p>
        </p:txBody>
      </p:sp>
      <p:sp>
        <p:nvSpPr>
          <p:cNvPr id="18" name="Shape 16"/>
          <p:cNvSpPr/>
          <p:nvPr/>
        </p:nvSpPr>
        <p:spPr>
          <a:xfrm>
            <a:off x="4645152" y="2761488"/>
            <a:ext cx="1426464" cy="822960"/>
          </a:xfrm>
          <a:prstGeom prst="rect">
            <a:avLst/>
          </a:prstGeom>
          <a:solidFill>
            <a:srgbClr val="162441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54880" y="2898648"/>
            <a:ext cx="146304" cy="146304"/>
          </a:xfrm>
          <a:prstGeom prst="ellipse">
            <a:avLst/>
          </a:prstGeom>
          <a:solidFill>
            <a:srgbClr val="35D49A"/>
          </a:solidFill>
          <a:ln w="6350">
            <a:solidFill>
              <a:srgbClr val="35D49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91456" y="2889504"/>
            <a:ext cx="1207008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장면별 저장</a:t>
            </a:r>
            <a:endParaRPr lang="en-US" sz="1120" dirty="0"/>
          </a:p>
        </p:txBody>
      </p:sp>
      <p:sp>
        <p:nvSpPr>
          <p:cNvPr id="21" name="Shape 19"/>
          <p:cNvSpPr/>
          <p:nvPr/>
        </p:nvSpPr>
        <p:spPr>
          <a:xfrm>
            <a:off x="6181344" y="2761488"/>
            <a:ext cx="1426464" cy="822960"/>
          </a:xfrm>
          <a:prstGeom prst="rect">
            <a:avLst/>
          </a:prstGeom>
          <a:solidFill>
            <a:srgbClr val="162441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91072" y="2898648"/>
            <a:ext cx="146304" cy="146304"/>
          </a:xfrm>
          <a:prstGeom prst="ellipse">
            <a:avLst/>
          </a:prstGeom>
          <a:solidFill>
            <a:srgbClr val="35D49A"/>
          </a:solidFill>
          <a:ln w="6350">
            <a:solidFill>
              <a:srgbClr val="35D49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27648" y="2889504"/>
            <a:ext cx="1207008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비교용 메모</a:t>
            </a:r>
            <a:endParaRPr lang="en-US" sz="1120" dirty="0"/>
          </a:p>
        </p:txBody>
      </p:sp>
      <p:sp>
        <p:nvSpPr>
          <p:cNvPr id="24" name="Shape 22"/>
          <p:cNvSpPr/>
          <p:nvPr/>
        </p:nvSpPr>
        <p:spPr>
          <a:xfrm>
            <a:off x="475488" y="4096512"/>
            <a:ext cx="7296912" cy="512064"/>
          </a:xfrm>
          <a:prstGeom prst="rect">
            <a:avLst/>
          </a:prstGeom>
          <a:solidFill>
            <a:srgbClr val="111B33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3504" y="4206240"/>
            <a:ext cx="7680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FF6B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강사 포인트</a:t>
            </a:r>
            <a:endParaRPr lang="en-US" sz="930" dirty="0"/>
          </a:p>
        </p:txBody>
      </p:sp>
      <p:sp>
        <p:nvSpPr>
          <p:cNvPr id="26" name="Text 24"/>
          <p:cNvSpPr/>
          <p:nvPr/>
        </p:nvSpPr>
        <p:spPr>
          <a:xfrm>
            <a:off x="1499616" y="4169664"/>
            <a:ext cx="5998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AAB7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좋은 결과를 만들어도 어떤 조건으로 만들었는지 모르면 실무 자산이 되지 않는다고 설명한다.</a:t>
            </a:r>
            <a:endParaRPr lang="en-US" sz="960" dirty="0"/>
          </a:p>
        </p:txBody>
      </p:sp>
      <p:sp>
        <p:nvSpPr>
          <p:cNvPr id="27" name="Text 25"/>
          <p:cNvSpPr/>
          <p:nvPr/>
        </p:nvSpPr>
        <p:spPr>
          <a:xfrm rot="5400000">
            <a:off x="8119872" y="109728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1D9E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Afternoon Lab</a:t>
            </a:r>
            <a:endParaRPr lang="en-US" sz="11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201168"/>
            <a:ext cx="8631936" cy="4736592"/>
          </a:xfrm>
          <a:prstGeom prst="rect">
            <a:avLst/>
          </a:prstGeom>
          <a:solidFill>
            <a:srgbClr val="10182D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73568" y="201168"/>
            <a:ext cx="914400" cy="4736592"/>
          </a:xfrm>
          <a:prstGeom prst="rect">
            <a:avLst/>
          </a:prstGeom>
          <a:solidFill>
            <a:srgbClr val="132347"/>
          </a:solidFill>
          <a:ln w="6350">
            <a:solidFill>
              <a:srgbClr val="2A36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310896"/>
            <a:ext cx="768096" cy="182880"/>
          </a:xfrm>
          <a:prstGeom prst="rect">
            <a:avLst/>
          </a:prstGeom>
          <a:solidFill>
            <a:srgbClr val="17304D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1D9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오후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8156448" y="310896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AB7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36 / 40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603504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41D9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822960"/>
            <a:ext cx="7040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실무 적용 시 주의할 점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4498848" y="1426464"/>
            <a:ext cx="3794760" cy="2505456"/>
          </a:xfrm>
          <a:prstGeom prst="rect">
            <a:avLst/>
          </a:prstGeom>
          <a:solidFill>
            <a:srgbClr val="121A30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" y="1426464"/>
            <a:ext cx="3273552" cy="2505456"/>
          </a:xfrm>
          <a:prstGeom prst="rect">
            <a:avLst/>
          </a:prstGeom>
          <a:solidFill>
            <a:srgbClr val="121A30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1591056"/>
            <a:ext cx="3456432" cy="21762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342900" indent="-342900">
              <a:buSzPct val="100000"/>
              <a:buChar char="•"/>
            </a:pPr>
            <a:r>
              <a:rPr lang="en-US" sz="131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저작권, 초상권, 브랜드 오인 가능성, 과장 표현 등 법무 리스크를 고려해야 한다.</a:t>
            </a:r>
            <a:endParaRPr lang="en-US" sz="1310" dirty="0"/>
          </a:p>
          <a:p>
            <a:pPr marL="342900" indent="-342900">
              <a:buSzPct val="100000"/>
              <a:buChar char="•"/>
            </a:pPr>
            <a:r>
              <a:rPr lang="en-US" sz="131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생성 결과는 데모 단계와 상용 배포 단계를 구분해 검토하는 것이 안전하다.</a:t>
            </a:r>
            <a:endParaRPr lang="en-US" sz="1310" dirty="0"/>
          </a:p>
          <a:p>
            <a:pPr marL="342900" indent="-342900">
              <a:buSzPct val="100000"/>
              <a:buChar char="•"/>
            </a:pPr>
            <a:r>
              <a:rPr lang="en-US" sz="131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기업 내부에서는 검수자와 승인 절차를 명확히 두는 것이 바람직하다.</a:t>
            </a:r>
            <a:endParaRPr lang="en-US" sz="1310" dirty="0"/>
          </a:p>
        </p:txBody>
      </p:sp>
      <p:sp>
        <p:nvSpPr>
          <p:cNvPr id="11" name="Text 9"/>
          <p:cNvSpPr/>
          <p:nvPr/>
        </p:nvSpPr>
        <p:spPr>
          <a:xfrm>
            <a:off x="621792" y="1572768"/>
            <a:ext cx="2962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AB7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리스크 영역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21792" y="1828800"/>
            <a:ext cx="1426464" cy="822960"/>
          </a:xfrm>
          <a:prstGeom prst="rect">
            <a:avLst/>
          </a:prstGeom>
          <a:solidFill>
            <a:srgbClr val="162441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8096" y="1956816"/>
            <a:ext cx="1207008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저작권</a:t>
            </a:r>
            <a:endParaRPr lang="en-US" sz="1120" dirty="0"/>
          </a:p>
        </p:txBody>
      </p:sp>
      <p:sp>
        <p:nvSpPr>
          <p:cNvPr id="14" name="Shape 12"/>
          <p:cNvSpPr/>
          <p:nvPr/>
        </p:nvSpPr>
        <p:spPr>
          <a:xfrm>
            <a:off x="2157984" y="1828800"/>
            <a:ext cx="1426464" cy="822960"/>
          </a:xfrm>
          <a:prstGeom prst="rect">
            <a:avLst/>
          </a:prstGeom>
          <a:solidFill>
            <a:srgbClr val="162441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304288" y="1956816"/>
            <a:ext cx="1207008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초상권</a:t>
            </a:r>
            <a:endParaRPr lang="en-US" sz="1120" dirty="0"/>
          </a:p>
        </p:txBody>
      </p:sp>
      <p:sp>
        <p:nvSpPr>
          <p:cNvPr id="16" name="Shape 14"/>
          <p:cNvSpPr/>
          <p:nvPr/>
        </p:nvSpPr>
        <p:spPr>
          <a:xfrm>
            <a:off x="621792" y="2761488"/>
            <a:ext cx="1426464" cy="822960"/>
          </a:xfrm>
          <a:prstGeom prst="rect">
            <a:avLst/>
          </a:prstGeom>
          <a:solidFill>
            <a:srgbClr val="162441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8096" y="2889504"/>
            <a:ext cx="1207008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브랜드 오인</a:t>
            </a:r>
            <a:endParaRPr lang="en-US" sz="1120" dirty="0"/>
          </a:p>
        </p:txBody>
      </p:sp>
      <p:sp>
        <p:nvSpPr>
          <p:cNvPr id="18" name="Shape 16"/>
          <p:cNvSpPr/>
          <p:nvPr/>
        </p:nvSpPr>
        <p:spPr>
          <a:xfrm>
            <a:off x="2157984" y="2761488"/>
            <a:ext cx="1426464" cy="822960"/>
          </a:xfrm>
          <a:prstGeom prst="rect">
            <a:avLst/>
          </a:prstGeom>
          <a:solidFill>
            <a:srgbClr val="162441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304288" y="2889504"/>
            <a:ext cx="1207008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승인 프로세스</a:t>
            </a:r>
            <a:endParaRPr lang="en-US" sz="1120" dirty="0"/>
          </a:p>
        </p:txBody>
      </p:sp>
      <p:sp>
        <p:nvSpPr>
          <p:cNvPr id="20" name="Shape 18"/>
          <p:cNvSpPr/>
          <p:nvPr/>
        </p:nvSpPr>
        <p:spPr>
          <a:xfrm>
            <a:off x="475488" y="4096512"/>
            <a:ext cx="7296912" cy="512064"/>
          </a:xfrm>
          <a:prstGeom prst="rect">
            <a:avLst/>
          </a:prstGeom>
          <a:solidFill>
            <a:srgbClr val="111B33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3504" y="4206240"/>
            <a:ext cx="7680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FF6B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강사 포인트</a:t>
            </a:r>
            <a:endParaRPr lang="en-US" sz="930" dirty="0"/>
          </a:p>
        </p:txBody>
      </p:sp>
      <p:sp>
        <p:nvSpPr>
          <p:cNvPr id="22" name="Text 20"/>
          <p:cNvSpPr/>
          <p:nvPr/>
        </p:nvSpPr>
        <p:spPr>
          <a:xfrm>
            <a:off x="1499616" y="4169664"/>
            <a:ext cx="5998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AAB7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기술 수업이지만 최종 사용 맥락까지 연결해야 현업 적용력이 생긴다.</a:t>
            </a:r>
            <a:endParaRPr lang="en-US" sz="960" dirty="0"/>
          </a:p>
        </p:txBody>
      </p:sp>
      <p:sp>
        <p:nvSpPr>
          <p:cNvPr id="23" name="Text 21"/>
          <p:cNvSpPr/>
          <p:nvPr/>
        </p:nvSpPr>
        <p:spPr>
          <a:xfrm rot="5400000">
            <a:off x="8119872" y="109728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C72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Afternoon Lab</a:t>
            </a:r>
            <a:endParaRPr lang="en-US" sz="11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201168"/>
            <a:ext cx="8631936" cy="4736592"/>
          </a:xfrm>
          <a:prstGeom prst="rect">
            <a:avLst/>
          </a:prstGeom>
          <a:solidFill>
            <a:srgbClr val="10182D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73568" y="201168"/>
            <a:ext cx="914400" cy="4736592"/>
          </a:xfrm>
          <a:prstGeom prst="rect">
            <a:avLst/>
          </a:prstGeom>
          <a:solidFill>
            <a:srgbClr val="0F1E38"/>
          </a:solidFill>
          <a:ln w="6350">
            <a:solidFill>
              <a:srgbClr val="2A36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310896"/>
            <a:ext cx="768096" cy="182880"/>
          </a:xfrm>
          <a:prstGeom prst="rect">
            <a:avLst/>
          </a:prstGeom>
          <a:solidFill>
            <a:srgbClr val="17304D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1D9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오후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8156448" y="310896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AB7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37 / 40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603504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41D9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WORKFLOW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822960"/>
            <a:ext cx="7040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팀 단위 운영 시 역할 분담 예시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475488" y="1426464"/>
            <a:ext cx="3794760" cy="2505456"/>
          </a:xfrm>
          <a:prstGeom prst="rect">
            <a:avLst/>
          </a:prstGeom>
          <a:solidFill>
            <a:srgbClr val="121A30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98848" y="1426464"/>
            <a:ext cx="3273552" cy="2505456"/>
          </a:xfrm>
          <a:prstGeom prst="rect">
            <a:avLst/>
          </a:prstGeom>
          <a:solidFill>
            <a:srgbClr val="121A30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591056"/>
            <a:ext cx="3456432" cy="21762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342900" indent="-342900">
              <a:buSzPct val="100000"/>
              <a:buChar char="•"/>
            </a:pPr>
            <a:r>
              <a:rPr lang="en-US" sz="131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프롬프트 설계자, 입력 자산 관리자, 생성 운영자, 리뷰어로 역할을 나눌 수 있다.</a:t>
            </a:r>
            <a:endParaRPr lang="en-US" sz="1310" dirty="0"/>
          </a:p>
          <a:p>
            <a:pPr marL="342900" indent="-342900">
              <a:buSzPct val="100000"/>
              <a:buChar char="•"/>
            </a:pPr>
            <a:r>
              <a:rPr lang="en-US" sz="131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작업 역할을 분리하면 반복 실험의 속도와 결과 비교 품질이 좋아진다.</a:t>
            </a:r>
            <a:endParaRPr lang="en-US" sz="1310" dirty="0"/>
          </a:p>
          <a:p>
            <a:pPr marL="342900" indent="-342900">
              <a:buSzPct val="100000"/>
              <a:buChar char="•"/>
            </a:pPr>
            <a:r>
              <a:rPr lang="en-US" sz="131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교육 현장에서도 짧은 조별 역할 분담을 주면 참여도가 높아진다.</a:t>
            </a:r>
            <a:endParaRPr lang="en-US" sz="1310" dirty="0"/>
          </a:p>
        </p:txBody>
      </p:sp>
      <p:sp>
        <p:nvSpPr>
          <p:cNvPr id="11" name="Text 9"/>
          <p:cNvSpPr/>
          <p:nvPr/>
        </p:nvSpPr>
        <p:spPr>
          <a:xfrm>
            <a:off x="4645152" y="1572768"/>
            <a:ext cx="2962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AB7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역할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645152" y="1828800"/>
            <a:ext cx="1426464" cy="822960"/>
          </a:xfrm>
          <a:prstGeom prst="rect">
            <a:avLst/>
          </a:prstGeom>
          <a:solidFill>
            <a:srgbClr val="162441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91456" y="1956816"/>
            <a:ext cx="1207008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프롬프트</a:t>
            </a:r>
            <a:endParaRPr lang="en-US" sz="1120" dirty="0"/>
          </a:p>
        </p:txBody>
      </p:sp>
      <p:sp>
        <p:nvSpPr>
          <p:cNvPr id="14" name="Shape 12"/>
          <p:cNvSpPr/>
          <p:nvPr/>
        </p:nvSpPr>
        <p:spPr>
          <a:xfrm>
            <a:off x="6181344" y="1828800"/>
            <a:ext cx="1426464" cy="822960"/>
          </a:xfrm>
          <a:prstGeom prst="rect">
            <a:avLst/>
          </a:prstGeom>
          <a:solidFill>
            <a:srgbClr val="162441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27648" y="1956816"/>
            <a:ext cx="1207008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자산 준비</a:t>
            </a:r>
            <a:endParaRPr lang="en-US" sz="1120" dirty="0"/>
          </a:p>
        </p:txBody>
      </p:sp>
      <p:sp>
        <p:nvSpPr>
          <p:cNvPr id="16" name="Shape 14"/>
          <p:cNvSpPr/>
          <p:nvPr/>
        </p:nvSpPr>
        <p:spPr>
          <a:xfrm>
            <a:off x="4645152" y="2761488"/>
            <a:ext cx="1426464" cy="822960"/>
          </a:xfrm>
          <a:prstGeom prst="rect">
            <a:avLst/>
          </a:prstGeom>
          <a:solidFill>
            <a:srgbClr val="162441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91456" y="2889504"/>
            <a:ext cx="1207008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생성 운영</a:t>
            </a:r>
            <a:endParaRPr lang="en-US" sz="1120" dirty="0"/>
          </a:p>
        </p:txBody>
      </p:sp>
      <p:sp>
        <p:nvSpPr>
          <p:cNvPr id="18" name="Shape 16"/>
          <p:cNvSpPr/>
          <p:nvPr/>
        </p:nvSpPr>
        <p:spPr>
          <a:xfrm>
            <a:off x="6181344" y="2761488"/>
            <a:ext cx="1426464" cy="822960"/>
          </a:xfrm>
          <a:prstGeom prst="rect">
            <a:avLst/>
          </a:prstGeom>
          <a:solidFill>
            <a:srgbClr val="162441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27648" y="2889504"/>
            <a:ext cx="1207008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리뷰</a:t>
            </a:r>
            <a:endParaRPr lang="en-US" sz="1120" dirty="0"/>
          </a:p>
        </p:txBody>
      </p:sp>
      <p:sp>
        <p:nvSpPr>
          <p:cNvPr id="20" name="Shape 18"/>
          <p:cNvSpPr/>
          <p:nvPr/>
        </p:nvSpPr>
        <p:spPr>
          <a:xfrm>
            <a:off x="475488" y="4096512"/>
            <a:ext cx="7296912" cy="512064"/>
          </a:xfrm>
          <a:prstGeom prst="rect">
            <a:avLst/>
          </a:prstGeom>
          <a:solidFill>
            <a:srgbClr val="111B33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3504" y="4206240"/>
            <a:ext cx="7680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FF6B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강사 포인트</a:t>
            </a:r>
            <a:endParaRPr lang="en-US" sz="930" dirty="0"/>
          </a:p>
        </p:txBody>
      </p:sp>
      <p:sp>
        <p:nvSpPr>
          <p:cNvPr id="22" name="Text 20"/>
          <p:cNvSpPr/>
          <p:nvPr/>
        </p:nvSpPr>
        <p:spPr>
          <a:xfrm>
            <a:off x="1499616" y="4169664"/>
            <a:ext cx="5998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AAB7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개인 실습을 하더라도 팀 운영 관점을 넣어 주면 향후 현업 전환에 도움이 된다.</a:t>
            </a:r>
            <a:endParaRPr lang="en-US" sz="960" dirty="0"/>
          </a:p>
        </p:txBody>
      </p:sp>
      <p:sp>
        <p:nvSpPr>
          <p:cNvPr id="23" name="Text 21"/>
          <p:cNvSpPr/>
          <p:nvPr/>
        </p:nvSpPr>
        <p:spPr>
          <a:xfrm rot="5400000">
            <a:off x="8119872" y="109728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1D9E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Afternoon Lab</a:t>
            </a:r>
            <a:endParaRPr lang="en-US" sz="11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201168"/>
            <a:ext cx="8631936" cy="4736592"/>
          </a:xfrm>
          <a:prstGeom prst="rect">
            <a:avLst/>
          </a:prstGeom>
          <a:solidFill>
            <a:srgbClr val="10182D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73568" y="201168"/>
            <a:ext cx="914400" cy="4736592"/>
          </a:xfrm>
          <a:prstGeom prst="rect">
            <a:avLst/>
          </a:prstGeom>
          <a:solidFill>
            <a:srgbClr val="132347"/>
          </a:solidFill>
          <a:ln w="6350">
            <a:solidFill>
              <a:srgbClr val="2A36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310896"/>
            <a:ext cx="768096" cy="182880"/>
          </a:xfrm>
          <a:prstGeom prst="rect">
            <a:avLst/>
          </a:prstGeom>
          <a:solidFill>
            <a:srgbClr val="17304D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1D9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오후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8156448" y="310896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AB7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38 / 40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603504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41D9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CAPSTONE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822960"/>
            <a:ext cx="7040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최종 미션: 10초 내외 홍보 영상 제안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4498848" y="1426464"/>
            <a:ext cx="3794760" cy="2505456"/>
          </a:xfrm>
          <a:prstGeom prst="rect">
            <a:avLst/>
          </a:prstGeom>
          <a:solidFill>
            <a:srgbClr val="121A30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" y="1426464"/>
            <a:ext cx="3273552" cy="2505456"/>
          </a:xfrm>
          <a:prstGeom prst="rect">
            <a:avLst/>
          </a:prstGeom>
          <a:solidFill>
            <a:srgbClr val="121A30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1591056"/>
            <a:ext cx="3456432" cy="21762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342900" indent="-342900">
              <a:buSzPct val="100000"/>
              <a:buChar char="•"/>
            </a:pPr>
            <a:r>
              <a:rPr lang="en-US" sz="131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각 팀 또는 개인은 하나의 제품·서비스를 정하고 10초 내외 홍보 영상을 설계한다.</a:t>
            </a:r>
            <a:endParaRPr lang="en-US" sz="1310" dirty="0"/>
          </a:p>
          <a:p>
            <a:pPr marL="342900" indent="-342900">
              <a:buSzPct val="100000"/>
              <a:buChar char="•"/>
            </a:pPr>
            <a:r>
              <a:rPr lang="en-US" sz="131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최소 2개 장면, 1개 이상의 비교 실험, 최종 선택 근거를 포함한다.</a:t>
            </a:r>
            <a:endParaRPr lang="en-US" sz="1310" dirty="0"/>
          </a:p>
          <a:p>
            <a:pPr marL="342900" indent="-342900">
              <a:buSzPct val="100000"/>
              <a:buChar char="•"/>
            </a:pPr>
            <a:r>
              <a:rPr lang="en-US" sz="131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기술 데모가 아니라 마케팅 목적이 읽히는 구조를 목표로 한다.</a:t>
            </a:r>
            <a:endParaRPr lang="en-US" sz="1310" dirty="0"/>
          </a:p>
        </p:txBody>
      </p:sp>
      <p:sp>
        <p:nvSpPr>
          <p:cNvPr id="11" name="Text 9"/>
          <p:cNvSpPr/>
          <p:nvPr/>
        </p:nvSpPr>
        <p:spPr>
          <a:xfrm>
            <a:off x="621792" y="1572768"/>
            <a:ext cx="2962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AB7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제출 구조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21792" y="1828800"/>
            <a:ext cx="504749" cy="822960"/>
          </a:xfrm>
          <a:prstGeom prst="rect">
            <a:avLst/>
          </a:prstGeom>
          <a:solidFill>
            <a:srgbClr val="162441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8096" y="1956816"/>
            <a:ext cx="285293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대상</a:t>
            </a:r>
            <a:endParaRPr lang="en-US" sz="1120" dirty="0"/>
          </a:p>
        </p:txBody>
      </p:sp>
      <p:sp>
        <p:nvSpPr>
          <p:cNvPr id="14" name="Shape 12"/>
          <p:cNvSpPr/>
          <p:nvPr/>
        </p:nvSpPr>
        <p:spPr>
          <a:xfrm>
            <a:off x="1236269" y="1828800"/>
            <a:ext cx="504749" cy="822960"/>
          </a:xfrm>
          <a:prstGeom prst="rect">
            <a:avLst/>
          </a:prstGeom>
          <a:solidFill>
            <a:srgbClr val="162441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82573" y="1956816"/>
            <a:ext cx="285293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메시지</a:t>
            </a:r>
            <a:endParaRPr lang="en-US" sz="1120" dirty="0"/>
          </a:p>
        </p:txBody>
      </p:sp>
      <p:sp>
        <p:nvSpPr>
          <p:cNvPr id="16" name="Shape 14"/>
          <p:cNvSpPr/>
          <p:nvPr/>
        </p:nvSpPr>
        <p:spPr>
          <a:xfrm>
            <a:off x="1850746" y="1828800"/>
            <a:ext cx="504749" cy="822960"/>
          </a:xfrm>
          <a:prstGeom prst="rect">
            <a:avLst/>
          </a:prstGeom>
          <a:solidFill>
            <a:srgbClr val="162441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997050" y="1956816"/>
            <a:ext cx="285293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장면 2개+</a:t>
            </a:r>
            <a:endParaRPr lang="en-US" sz="1120" dirty="0"/>
          </a:p>
        </p:txBody>
      </p:sp>
      <p:sp>
        <p:nvSpPr>
          <p:cNvPr id="18" name="Shape 16"/>
          <p:cNvSpPr/>
          <p:nvPr/>
        </p:nvSpPr>
        <p:spPr>
          <a:xfrm>
            <a:off x="2465222" y="1828800"/>
            <a:ext cx="504749" cy="822960"/>
          </a:xfrm>
          <a:prstGeom prst="rect">
            <a:avLst/>
          </a:prstGeom>
          <a:solidFill>
            <a:srgbClr val="162441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11526" y="1956816"/>
            <a:ext cx="285293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비교 실험</a:t>
            </a:r>
            <a:endParaRPr lang="en-US" sz="1120" dirty="0"/>
          </a:p>
        </p:txBody>
      </p:sp>
      <p:sp>
        <p:nvSpPr>
          <p:cNvPr id="20" name="Shape 18"/>
          <p:cNvSpPr/>
          <p:nvPr/>
        </p:nvSpPr>
        <p:spPr>
          <a:xfrm>
            <a:off x="3079699" y="1828800"/>
            <a:ext cx="504749" cy="822960"/>
          </a:xfrm>
          <a:prstGeom prst="rect">
            <a:avLst/>
          </a:prstGeom>
          <a:solidFill>
            <a:srgbClr val="162441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26003" y="1956816"/>
            <a:ext cx="285293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최종 선택</a:t>
            </a:r>
            <a:endParaRPr lang="en-US" sz="1120" dirty="0"/>
          </a:p>
        </p:txBody>
      </p:sp>
      <p:sp>
        <p:nvSpPr>
          <p:cNvPr id="22" name="Shape 20"/>
          <p:cNvSpPr/>
          <p:nvPr/>
        </p:nvSpPr>
        <p:spPr>
          <a:xfrm>
            <a:off x="475488" y="4096512"/>
            <a:ext cx="7296912" cy="512064"/>
          </a:xfrm>
          <a:prstGeom prst="rect">
            <a:avLst/>
          </a:prstGeom>
          <a:solidFill>
            <a:srgbClr val="111B33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3504" y="4206240"/>
            <a:ext cx="7680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FF6B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강사 포인트</a:t>
            </a:r>
            <a:endParaRPr lang="en-US" sz="930" dirty="0"/>
          </a:p>
        </p:txBody>
      </p:sp>
      <p:sp>
        <p:nvSpPr>
          <p:cNvPr id="24" name="Text 22"/>
          <p:cNvSpPr/>
          <p:nvPr/>
        </p:nvSpPr>
        <p:spPr>
          <a:xfrm>
            <a:off x="1499616" y="4169664"/>
            <a:ext cx="5998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AAB7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최종 미션은 결과물뿐 아니라 선택 근거를 말하게 만드는 것이 중요하다.</a:t>
            </a:r>
            <a:endParaRPr lang="en-US" sz="960" dirty="0"/>
          </a:p>
        </p:txBody>
      </p:sp>
      <p:sp>
        <p:nvSpPr>
          <p:cNvPr id="25" name="Text 23"/>
          <p:cNvSpPr/>
          <p:nvPr/>
        </p:nvSpPr>
        <p:spPr>
          <a:xfrm rot="5400000">
            <a:off x="8119872" y="109728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C72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Afternoon Lab</a:t>
            </a:r>
            <a:endParaRPr lang="en-US" sz="11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201168"/>
            <a:ext cx="8631936" cy="4736592"/>
          </a:xfrm>
          <a:prstGeom prst="rect">
            <a:avLst/>
          </a:prstGeom>
          <a:solidFill>
            <a:srgbClr val="10182D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73568" y="201168"/>
            <a:ext cx="914400" cy="4736592"/>
          </a:xfrm>
          <a:prstGeom prst="rect">
            <a:avLst/>
          </a:prstGeom>
          <a:solidFill>
            <a:srgbClr val="0F1E38"/>
          </a:solidFill>
          <a:ln w="6350">
            <a:solidFill>
              <a:srgbClr val="2A36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310896"/>
            <a:ext cx="768096" cy="182880"/>
          </a:xfrm>
          <a:prstGeom prst="rect">
            <a:avLst/>
          </a:prstGeom>
          <a:solidFill>
            <a:srgbClr val="17304D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1D9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오후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8156448" y="310896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AB7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 / 40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603504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41D9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DELIVERABLES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822960"/>
            <a:ext cx="7040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제출물 체크리스트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475488" y="1426464"/>
            <a:ext cx="3794760" cy="2505456"/>
          </a:xfrm>
          <a:prstGeom prst="rect">
            <a:avLst/>
          </a:prstGeom>
          <a:solidFill>
            <a:srgbClr val="121A30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98848" y="1426464"/>
            <a:ext cx="3273552" cy="2505456"/>
          </a:xfrm>
          <a:prstGeom prst="rect">
            <a:avLst/>
          </a:prstGeom>
          <a:solidFill>
            <a:srgbClr val="121A30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591056"/>
            <a:ext cx="3456432" cy="21762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342900" indent="-342900">
              <a:buSzPct val="100000"/>
              <a:buChar char="•"/>
            </a:pPr>
            <a:r>
              <a:rPr lang="en-US" sz="131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최종 영상 파일, 사용한 프롬프트, 핵심 파라미터 기록, 결과 비교 메모를 제출한다.</a:t>
            </a:r>
            <a:endParaRPr lang="en-US" sz="1310" dirty="0"/>
          </a:p>
          <a:p>
            <a:pPr marL="342900" indent="-342900">
              <a:buSzPct val="100000"/>
              <a:buChar char="•"/>
            </a:pPr>
            <a:r>
              <a:rPr lang="en-US" sz="131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어떤 시도는 실패했고 왜 수정했는지도 간단히 남기게 한다.</a:t>
            </a:r>
            <a:endParaRPr lang="en-US" sz="1310" dirty="0"/>
          </a:p>
          <a:p>
            <a:pPr marL="342900" indent="-342900">
              <a:buSzPct val="100000"/>
              <a:buChar char="•"/>
            </a:pPr>
            <a:r>
              <a:rPr lang="en-US" sz="131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좋은 제출물은 결과보다 과정 재현성이 분명하다.</a:t>
            </a:r>
            <a:endParaRPr lang="en-US" sz="1310" dirty="0"/>
          </a:p>
        </p:txBody>
      </p:sp>
      <p:sp>
        <p:nvSpPr>
          <p:cNvPr id="11" name="Text 9"/>
          <p:cNvSpPr/>
          <p:nvPr/>
        </p:nvSpPr>
        <p:spPr>
          <a:xfrm>
            <a:off x="4645152" y="1572768"/>
            <a:ext cx="2962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AB7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제출 항목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645152" y="1828800"/>
            <a:ext cx="1426464" cy="560832"/>
          </a:xfrm>
          <a:prstGeom prst="rect">
            <a:avLst/>
          </a:prstGeom>
          <a:solidFill>
            <a:srgbClr val="162441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54880" y="1965960"/>
            <a:ext cx="146304" cy="146304"/>
          </a:xfrm>
          <a:prstGeom prst="ellipse">
            <a:avLst/>
          </a:prstGeom>
          <a:solidFill>
            <a:srgbClr val="35D49A"/>
          </a:solidFill>
          <a:ln w="6350">
            <a:solidFill>
              <a:srgbClr val="35D4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91456" y="1956816"/>
            <a:ext cx="1207008" cy="396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영상 파일</a:t>
            </a:r>
            <a:endParaRPr lang="en-US" sz="1120" dirty="0"/>
          </a:p>
        </p:txBody>
      </p:sp>
      <p:sp>
        <p:nvSpPr>
          <p:cNvPr id="15" name="Shape 13"/>
          <p:cNvSpPr/>
          <p:nvPr/>
        </p:nvSpPr>
        <p:spPr>
          <a:xfrm>
            <a:off x="6181344" y="1828800"/>
            <a:ext cx="1426464" cy="560832"/>
          </a:xfrm>
          <a:prstGeom prst="rect">
            <a:avLst/>
          </a:prstGeom>
          <a:solidFill>
            <a:srgbClr val="162441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91072" y="1965960"/>
            <a:ext cx="146304" cy="146304"/>
          </a:xfrm>
          <a:prstGeom prst="ellipse">
            <a:avLst/>
          </a:prstGeom>
          <a:solidFill>
            <a:srgbClr val="35D49A"/>
          </a:solidFill>
          <a:ln w="6350">
            <a:solidFill>
              <a:srgbClr val="35D4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27648" y="1956816"/>
            <a:ext cx="1207008" cy="396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프롬프트</a:t>
            </a:r>
            <a:endParaRPr lang="en-US" sz="1120" dirty="0"/>
          </a:p>
        </p:txBody>
      </p:sp>
      <p:sp>
        <p:nvSpPr>
          <p:cNvPr id="18" name="Shape 16"/>
          <p:cNvSpPr/>
          <p:nvPr/>
        </p:nvSpPr>
        <p:spPr>
          <a:xfrm>
            <a:off x="4645152" y="2499360"/>
            <a:ext cx="1426464" cy="560832"/>
          </a:xfrm>
          <a:prstGeom prst="rect">
            <a:avLst/>
          </a:prstGeom>
          <a:solidFill>
            <a:srgbClr val="162441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54880" y="2636520"/>
            <a:ext cx="146304" cy="146304"/>
          </a:xfrm>
          <a:prstGeom prst="ellipse">
            <a:avLst/>
          </a:prstGeom>
          <a:solidFill>
            <a:srgbClr val="35D49A"/>
          </a:solidFill>
          <a:ln w="6350">
            <a:solidFill>
              <a:srgbClr val="35D49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91456" y="2627376"/>
            <a:ext cx="1207008" cy="396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파라미터</a:t>
            </a:r>
            <a:endParaRPr lang="en-US" sz="1120" dirty="0"/>
          </a:p>
        </p:txBody>
      </p:sp>
      <p:sp>
        <p:nvSpPr>
          <p:cNvPr id="21" name="Shape 19"/>
          <p:cNvSpPr/>
          <p:nvPr/>
        </p:nvSpPr>
        <p:spPr>
          <a:xfrm>
            <a:off x="6181344" y="2499360"/>
            <a:ext cx="1426464" cy="560832"/>
          </a:xfrm>
          <a:prstGeom prst="rect">
            <a:avLst/>
          </a:prstGeom>
          <a:solidFill>
            <a:srgbClr val="162441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91072" y="2636520"/>
            <a:ext cx="146304" cy="146304"/>
          </a:xfrm>
          <a:prstGeom prst="ellipse">
            <a:avLst/>
          </a:prstGeom>
          <a:solidFill>
            <a:srgbClr val="35D49A"/>
          </a:solidFill>
          <a:ln w="6350">
            <a:solidFill>
              <a:srgbClr val="35D49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27648" y="2627376"/>
            <a:ext cx="1207008" cy="396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비교 메모</a:t>
            </a:r>
            <a:endParaRPr lang="en-US" sz="1120" dirty="0"/>
          </a:p>
        </p:txBody>
      </p:sp>
      <p:sp>
        <p:nvSpPr>
          <p:cNvPr id="24" name="Shape 22"/>
          <p:cNvSpPr/>
          <p:nvPr/>
        </p:nvSpPr>
        <p:spPr>
          <a:xfrm>
            <a:off x="4645152" y="3169920"/>
            <a:ext cx="1426464" cy="560832"/>
          </a:xfrm>
          <a:prstGeom prst="rect">
            <a:avLst/>
          </a:prstGeom>
          <a:solidFill>
            <a:srgbClr val="162441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54880" y="3307080"/>
            <a:ext cx="146304" cy="146304"/>
          </a:xfrm>
          <a:prstGeom prst="ellipse">
            <a:avLst/>
          </a:prstGeom>
          <a:solidFill>
            <a:srgbClr val="35D49A"/>
          </a:solidFill>
          <a:ln w="6350">
            <a:solidFill>
              <a:srgbClr val="35D49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91456" y="3297936"/>
            <a:ext cx="1207008" cy="396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수정 기록</a:t>
            </a:r>
            <a:endParaRPr lang="en-US" sz="1120" dirty="0"/>
          </a:p>
        </p:txBody>
      </p:sp>
      <p:sp>
        <p:nvSpPr>
          <p:cNvPr id="27" name="Shape 25"/>
          <p:cNvSpPr/>
          <p:nvPr/>
        </p:nvSpPr>
        <p:spPr>
          <a:xfrm>
            <a:off x="475488" y="4096512"/>
            <a:ext cx="7296912" cy="512064"/>
          </a:xfrm>
          <a:prstGeom prst="rect">
            <a:avLst/>
          </a:prstGeom>
          <a:solidFill>
            <a:srgbClr val="111B33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3504" y="4206240"/>
            <a:ext cx="7680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FF6B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강사 포인트</a:t>
            </a:r>
            <a:endParaRPr lang="en-US" sz="930" dirty="0"/>
          </a:p>
        </p:txBody>
      </p:sp>
      <p:sp>
        <p:nvSpPr>
          <p:cNvPr id="29" name="Text 27"/>
          <p:cNvSpPr/>
          <p:nvPr/>
        </p:nvSpPr>
        <p:spPr>
          <a:xfrm>
            <a:off x="1499616" y="4169664"/>
            <a:ext cx="5998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AAB7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교육 결과물을 포트폴리오 자산으로 전환할 수 있도록 기록 관행까지 함께 훈련한다.</a:t>
            </a:r>
            <a:endParaRPr lang="en-US" sz="960" dirty="0"/>
          </a:p>
        </p:txBody>
      </p:sp>
      <p:sp>
        <p:nvSpPr>
          <p:cNvPr id="30" name="Text 28"/>
          <p:cNvSpPr/>
          <p:nvPr/>
        </p:nvSpPr>
        <p:spPr>
          <a:xfrm rot="5400000">
            <a:off x="8119872" y="109728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1D9E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Afternoon Lab</a:t>
            </a:r>
            <a:endParaRPr lang="en-US" sz="11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201168"/>
            <a:ext cx="8631936" cy="4736592"/>
          </a:xfrm>
          <a:prstGeom prst="rect">
            <a:avLst/>
          </a:prstGeom>
          <a:solidFill>
            <a:srgbClr val="10182D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73568" y="201168"/>
            <a:ext cx="914400" cy="4736592"/>
          </a:xfrm>
          <a:prstGeom prst="rect">
            <a:avLst/>
          </a:prstGeom>
          <a:solidFill>
            <a:srgbClr val="132347"/>
          </a:solidFill>
          <a:ln w="6350">
            <a:solidFill>
              <a:srgbClr val="2A36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310896"/>
            <a:ext cx="768096" cy="182880"/>
          </a:xfrm>
          <a:prstGeom prst="rect">
            <a:avLst/>
          </a:prstGeom>
          <a:solidFill>
            <a:srgbClr val="17304D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1D9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오후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8156448" y="310896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AB7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 / 40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603504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41D9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CLOSING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822960"/>
            <a:ext cx="7040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정리 및 Q&amp;A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4498848" y="1426464"/>
            <a:ext cx="3794760" cy="2505456"/>
          </a:xfrm>
          <a:prstGeom prst="rect">
            <a:avLst/>
          </a:prstGeom>
          <a:solidFill>
            <a:srgbClr val="121A30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" y="1426464"/>
            <a:ext cx="3273552" cy="2505456"/>
          </a:xfrm>
          <a:prstGeom prst="rect">
            <a:avLst/>
          </a:prstGeom>
          <a:solidFill>
            <a:srgbClr val="121A30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1591056"/>
            <a:ext cx="3456432" cy="21762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342900" indent="-342900">
              <a:buSzPct val="100000"/>
              <a:buChar char="•"/>
            </a:pPr>
            <a:r>
              <a:rPr lang="en-US" sz="131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오늘 수업의 핵심은 ComfyUI 기반 파이프라인 이해와 LTX-Video 실전 활용 경험이다.</a:t>
            </a:r>
            <a:endParaRPr lang="en-US" sz="1310" dirty="0"/>
          </a:p>
          <a:p>
            <a:pPr marL="342900" indent="-342900">
              <a:buSzPct val="100000"/>
              <a:buChar char="•"/>
            </a:pPr>
            <a:r>
              <a:rPr lang="en-US" sz="131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CFG, 샘플러, 참조 이미지, 스토리보드 설계가 결과 품질을 좌우한다.</a:t>
            </a:r>
            <a:endParaRPr lang="en-US" sz="1310" dirty="0"/>
          </a:p>
          <a:p>
            <a:pPr marL="342900" indent="-342900">
              <a:buSzPct val="100000"/>
              <a:buChar char="•"/>
            </a:pPr>
            <a:r>
              <a:rPr lang="en-US" sz="131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다음 실습에서는 오늘 만든 워크플로를 재사용해 더 긴 장면과 자동화로 확장할 수 있다.</a:t>
            </a:r>
            <a:endParaRPr lang="en-US" sz="1310" dirty="0"/>
          </a:p>
        </p:txBody>
      </p:sp>
      <p:sp>
        <p:nvSpPr>
          <p:cNvPr id="11" name="Text 9"/>
          <p:cNvSpPr/>
          <p:nvPr/>
        </p:nvSpPr>
        <p:spPr>
          <a:xfrm>
            <a:off x="621792" y="1572768"/>
            <a:ext cx="2962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AB7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핵심 키워드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21792" y="1828800"/>
            <a:ext cx="914400" cy="457200"/>
          </a:xfrm>
          <a:prstGeom prst="roundRect">
            <a:avLst>
              <a:gd name="adj" fmla="val 16000"/>
            </a:avLst>
          </a:prstGeom>
          <a:solidFill>
            <a:srgbClr val="162441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6656" y="1920240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1D9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파이프라인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1645920" y="1828800"/>
            <a:ext cx="914400" cy="457200"/>
          </a:xfrm>
          <a:prstGeom prst="roundRect">
            <a:avLst>
              <a:gd name="adj" fmla="val 16000"/>
            </a:avLst>
          </a:prstGeom>
          <a:solidFill>
            <a:srgbClr val="162441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700784" y="1920240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C7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제어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670048" y="1828800"/>
            <a:ext cx="914400" cy="457200"/>
          </a:xfrm>
          <a:prstGeom prst="roundRect">
            <a:avLst>
              <a:gd name="adj" fmla="val 16000"/>
            </a:avLst>
          </a:prstGeom>
          <a:solidFill>
            <a:srgbClr val="162441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24912" y="1920240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1D9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일관성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21792" y="2468880"/>
            <a:ext cx="1426464" cy="457200"/>
          </a:xfrm>
          <a:prstGeom prst="roundRect">
            <a:avLst>
              <a:gd name="adj" fmla="val 16000"/>
            </a:avLst>
          </a:prstGeom>
          <a:solidFill>
            <a:srgbClr val="162441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6656" y="2560320"/>
            <a:ext cx="1316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1D9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홍보 영상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2157984" y="2468880"/>
            <a:ext cx="1426464" cy="457200"/>
          </a:xfrm>
          <a:prstGeom prst="roundRect">
            <a:avLst>
              <a:gd name="adj" fmla="val 16000"/>
            </a:avLst>
          </a:prstGeom>
          <a:solidFill>
            <a:srgbClr val="162441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12848" y="2560320"/>
            <a:ext cx="1316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C7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재사용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75488" y="4096512"/>
            <a:ext cx="7296912" cy="512064"/>
          </a:xfrm>
          <a:prstGeom prst="rect">
            <a:avLst/>
          </a:prstGeom>
          <a:solidFill>
            <a:srgbClr val="111B33"/>
          </a:solidFill>
          <a:ln w="12700">
            <a:solidFill>
              <a:srgbClr val="2A365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3504" y="4206240"/>
            <a:ext cx="7680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FF6B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강사 포인트</a:t>
            </a:r>
            <a:endParaRPr lang="en-US" sz="930" dirty="0"/>
          </a:p>
        </p:txBody>
      </p:sp>
      <p:sp>
        <p:nvSpPr>
          <p:cNvPr id="24" name="Text 22"/>
          <p:cNvSpPr/>
          <p:nvPr/>
        </p:nvSpPr>
        <p:spPr>
          <a:xfrm>
            <a:off x="1499616" y="4169664"/>
            <a:ext cx="5998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AAB7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마지막에는 기술 키워드보다 실무 적용 포인트를 다시 묶어 주며 마무리한다.</a:t>
            </a:r>
            <a:endParaRPr lang="en-US" sz="960" dirty="0"/>
          </a:p>
        </p:txBody>
      </p:sp>
      <p:sp>
        <p:nvSpPr>
          <p:cNvPr id="25" name="Text 23"/>
          <p:cNvSpPr/>
          <p:nvPr/>
        </p:nvSpPr>
        <p:spPr>
          <a:xfrm rot="5400000">
            <a:off x="8119872" y="109728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C72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Afternoon Lab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40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16일차 고성능 AI 영상 제작 실무</dc:title>
  <dc:subject>ComfyUI + LTX-Video 교안</dc:subject>
  <dc:creator>OpenAI Codex</dc:creator>
  <cp:lastModifiedBy>OpenAI Codex</cp:lastModifiedBy>
  <cp:revision>1</cp:revision>
  <dcterms:created xsi:type="dcterms:W3CDTF">2026-04-26T11:58:28Z</dcterms:created>
  <dcterms:modified xsi:type="dcterms:W3CDTF">2026-04-26T11:58:28Z</dcterms:modified>
</cp:coreProperties>
</file>